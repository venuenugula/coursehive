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slides/slide58.xml" ContentType="application/vnd.openxmlformats-officedocument.presentationml.slide+xml"/>
  <Override PartName="/ppt/slides/slide76.xml" ContentType="application/vnd.openxmlformats-officedocument.presentationml.slide+xml"/>
  <Override PartName="/ppt/slides/slide94.xml" ContentType="application/vnd.openxmlformats-officedocument.presentationml.slide+xml"/>
  <Override PartName="/ppt/slides/slide113.xml" ContentType="application/vnd.openxmlformats-officedocument.presentationml.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s/slide83.xml" ContentType="application/vnd.openxmlformats-officedocument.presentationml.slide+xml"/>
  <Override PartName="/ppt/slides/slide102.xml" ContentType="application/vnd.openxmlformats-officedocument.presentationml.slide+xml"/>
  <Override PartName="/ppt/slideLayouts/slideLayout6.xml" ContentType="application/vnd.openxmlformats-officedocument.presentationml.slideLayout+xml"/>
  <Override PartName="/ppt/slides/slide25.xml" ContentType="application/vnd.openxmlformats-officedocument.presentationml.slide+xml"/>
  <Override PartName="/ppt/slides/slide43.xml" ContentType="application/vnd.openxmlformats-officedocument.presentationml.slide+xml"/>
  <Override PartName="/ppt/slides/slide72.xml" ContentType="application/vnd.openxmlformats-officedocument.presentationml.slide+xml"/>
  <Override PartName="/ppt/slides/slide90.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xml" ContentType="application/xml"/>
  <Override PartName="/ppt/slides/slide14.xml" ContentType="application/vnd.openxmlformats-officedocument.presentationml.slide+xml"/>
  <Override PartName="/ppt/slides/slide32.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slides/slide1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s/slide99.xml" ContentType="application/vnd.openxmlformats-officedocument.presentationml.slide+xml"/>
  <Override PartName="/ppt/slides/slide7.xml" ContentType="application/vnd.openxmlformats-officedocument.presentationml.slide+xml"/>
  <Override PartName="/ppt/slides/slide9.xml" ContentType="application/vnd.openxmlformats-officedocument.presentationml.slide+xml"/>
  <Override PartName="/ppt/slides/slide59.xml" ContentType="application/vnd.openxmlformats-officedocument.presentationml.slide+xml"/>
  <Override PartName="/ppt/slides/slide68.xml" ContentType="application/vnd.openxmlformats-officedocument.presentationml.slide+xml"/>
  <Override PartName="/ppt/slides/slide77.xml" ContentType="application/vnd.openxmlformats-officedocument.presentationml.slide+xml"/>
  <Override PartName="/ppt/slides/slide88.xml" ContentType="application/vnd.openxmlformats-officedocument.presentationml.slide+xml"/>
  <Override PartName="/ppt/slides/slide97.xml" ContentType="application/vnd.openxmlformats-officedocument.presentationml.slide+xml"/>
  <Override PartName="/ppt/slides/slide107.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s/slide57.xml" ContentType="application/vnd.openxmlformats-officedocument.presentationml.slide+xml"/>
  <Override PartName="/ppt/slides/slide66.xml" ContentType="application/vnd.openxmlformats-officedocument.presentationml.slide+xml"/>
  <Override PartName="/ppt/slides/slide75.xml" ContentType="application/vnd.openxmlformats-officedocument.presentationml.slide+xml"/>
  <Override PartName="/ppt/slides/slide86.xml" ContentType="application/vnd.openxmlformats-officedocument.presentationml.slide+xml"/>
  <Override PartName="/ppt/slides/slide95.xml" ContentType="application/vnd.openxmlformats-officedocument.presentationml.slide+xml"/>
  <Override PartName="/ppt/slides/slide103.xml" ContentType="application/vnd.openxmlformats-officedocument.presentationml.slide+xml"/>
  <Override PartName="/ppt/slides/slide105.xml" ContentType="application/vnd.openxmlformats-officedocument.presentationml.slide+xml"/>
  <Override PartName="/ppt/slideLayouts/slideLayout7.xml" ContentType="application/vnd.openxmlformats-officedocument.presentationml.slideLayout+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slides/slide64.xml" ContentType="application/vnd.openxmlformats-officedocument.presentationml.slide+xml"/>
  <Override PartName="/ppt/slides/slide73.xml" ContentType="application/vnd.openxmlformats-officedocument.presentationml.slide+xml"/>
  <Override PartName="/ppt/slides/slide84.xml" ContentType="application/vnd.openxmlformats-officedocument.presentationml.slide+xml"/>
  <Override PartName="/ppt/slides/slide93.xml" ContentType="application/vnd.openxmlformats-officedocument.presentationml.slide+xml"/>
  <Override PartName="/ppt/slides/slide101.xml" ContentType="application/vnd.openxmlformats-officedocument.presentationml.slide+xml"/>
  <Override PartName="/ppt/slides/slide112.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s/slide62.xml" ContentType="application/vnd.openxmlformats-officedocument.presentationml.slide+xml"/>
  <Override PartName="/ppt/slides/slide71.xml" ContentType="application/vnd.openxmlformats-officedocument.presentationml.slide+xml"/>
  <Override PartName="/ppt/slides/slide80.xml" ContentType="application/vnd.openxmlformats-officedocument.presentationml.slide+xml"/>
  <Override PartName="/ppt/slides/slide82.xml" ContentType="application/vnd.openxmlformats-officedocument.presentationml.slide+xml"/>
  <Override PartName="/ppt/slides/slide91.xml" ContentType="application/vnd.openxmlformats-officedocument.presentationml.slide+xml"/>
  <Override PartName="/ppt/slides/slide110.xml" ContentType="application/vnd.openxmlformats-officedocument.presentationml.slide+xml"/>
  <Override PartName="/ppt/slideLayouts/slideLayout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0.xml" ContentType="application/vnd.openxmlformats-officedocument.presentationml.slideLayout+xml"/>
  <Override PartName="/ppt/slides/slide89.xml" ContentType="application/vnd.openxmlformats-officedocument.presentationml.slide+xml"/>
  <Override PartName="/ppt/slides/slide98.xml" ContentType="application/vnd.openxmlformats-officedocument.presentationml.slide+xml"/>
  <Override PartName="/ppt/slides/slide108.xml" ContentType="application/vnd.openxmlformats-officedocument.presentationml.slide+xml"/>
  <Override PartName="/ppt/slides/slide8.xml" ContentType="application/vnd.openxmlformats-officedocument.presentationml.slide+xml"/>
  <Override PartName="/ppt/slides/slide49.xml" ContentType="application/vnd.openxmlformats-officedocument.presentationml.slide+xml"/>
  <Override PartName="/ppt/slides/slide69.xml" ContentType="application/vnd.openxmlformats-officedocument.presentationml.slide+xml"/>
  <Override PartName="/ppt/slides/slide78.xml" ContentType="application/vnd.openxmlformats-officedocument.presentationml.slide+xml"/>
  <Override PartName="/ppt/slides/slide87.xml" ContentType="application/vnd.openxmlformats-officedocument.presentationml.slide+xml"/>
  <Override PartName="/ppt/slides/slide96.xml" ContentType="application/vnd.openxmlformats-officedocument.presentationml.slide+xml"/>
  <Override PartName="/ppt/slides/slide106.xml" ContentType="application/vnd.openxmlformats-officedocument.presentationml.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s/slide85.xml" ContentType="application/vnd.openxmlformats-officedocument.presentationml.slide+xml"/>
  <Override PartName="/ppt/slides/slide104.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s/slide74.xml" ContentType="application/vnd.openxmlformats-officedocument.presentationml.slide+xml"/>
  <Override PartName="/ppt/slides/slide92.xml" ContentType="application/vnd.openxmlformats-officedocument.presentationml.slide+xml"/>
  <Override PartName="/ppt/slides/slide111.xml" ContentType="application/vnd.openxmlformats-officedocument.presentationml.slide+xml"/>
  <Override PartName="/ppt/slideLayouts/slideLayout4.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slides/slide81.xml" ContentType="application/vnd.openxmlformats-officedocument.presentationml.slide+xml"/>
  <Override PartName="/ppt/slides/slide100.xml" ContentType="application/vnd.openxmlformats-officedocument.presentationml.slide+xml"/>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slides/slide70.xml" ContentType="application/vnd.openxmlformats-officedocument.presentationml.slide+xml"/>
  <Override PartName="/ppt/slides/slide12.xml" ContentType="application/vnd.openxmlformats-officedocument.presentationml.slide+xml"/>
  <Override PartName="/ppt/slides/slide30.xml" ContentType="application/vnd.openxmlformats-officedocument.presentationml.slide+xml"/>
  <Override PartName="/ppt/slideLayouts/slideLayout11.xml" ContentType="application/vnd.openxmlformats-officedocument.presentationml.slideLayout+xml"/>
  <Override PartName="/ppt/slides/slide79.xml" ContentType="application/vnd.openxmlformats-officedocument.presentationml.slide+xml"/>
  <Override PartName="/ppt/slides/slide109.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89" r:id="rId23"/>
    <p:sldId id="277" r:id="rId24"/>
    <p:sldId id="278" r:id="rId25"/>
    <p:sldId id="279" r:id="rId26"/>
    <p:sldId id="282" r:id="rId27"/>
    <p:sldId id="283" r:id="rId28"/>
    <p:sldId id="284" r:id="rId29"/>
    <p:sldId id="285" r:id="rId30"/>
    <p:sldId id="286" r:id="rId31"/>
    <p:sldId id="287" r:id="rId32"/>
    <p:sldId id="288" r:id="rId33"/>
    <p:sldId id="290" r:id="rId34"/>
    <p:sldId id="291" r:id="rId35"/>
    <p:sldId id="292" r:id="rId36"/>
    <p:sldId id="293" r:id="rId37"/>
    <p:sldId id="294" r:id="rId38"/>
    <p:sldId id="295" r:id="rId39"/>
    <p:sldId id="296" r:id="rId40"/>
    <p:sldId id="297" r:id="rId41"/>
    <p:sldId id="298" r:id="rId42"/>
    <p:sldId id="299" r:id="rId43"/>
    <p:sldId id="300" r:id="rId44"/>
    <p:sldId id="301" r:id="rId45"/>
    <p:sldId id="302" r:id="rId46"/>
    <p:sldId id="303" r:id="rId47"/>
    <p:sldId id="304" r:id="rId48"/>
    <p:sldId id="305" r:id="rId49"/>
    <p:sldId id="306" r:id="rId50"/>
    <p:sldId id="307" r:id="rId51"/>
    <p:sldId id="308" r:id="rId52"/>
    <p:sldId id="309" r:id="rId53"/>
    <p:sldId id="310" r:id="rId54"/>
    <p:sldId id="311" r:id="rId55"/>
    <p:sldId id="312" r:id="rId56"/>
    <p:sldId id="313" r:id="rId57"/>
    <p:sldId id="314" r:id="rId58"/>
    <p:sldId id="315" r:id="rId59"/>
    <p:sldId id="316" r:id="rId60"/>
    <p:sldId id="317" r:id="rId61"/>
    <p:sldId id="318" r:id="rId62"/>
    <p:sldId id="319" r:id="rId63"/>
    <p:sldId id="320" r:id="rId64"/>
    <p:sldId id="321" r:id="rId65"/>
    <p:sldId id="322" r:id="rId66"/>
    <p:sldId id="323" r:id="rId67"/>
    <p:sldId id="324" r:id="rId68"/>
    <p:sldId id="325" r:id="rId69"/>
    <p:sldId id="326" r:id="rId70"/>
    <p:sldId id="327" r:id="rId71"/>
    <p:sldId id="356" r:id="rId72"/>
    <p:sldId id="357" r:id="rId73"/>
    <p:sldId id="358" r:id="rId74"/>
    <p:sldId id="360" r:id="rId75"/>
    <p:sldId id="328" r:id="rId76"/>
    <p:sldId id="329" r:id="rId77"/>
    <p:sldId id="330" r:id="rId78"/>
    <p:sldId id="331" r:id="rId79"/>
    <p:sldId id="332" r:id="rId80"/>
    <p:sldId id="333" r:id="rId81"/>
    <p:sldId id="334" r:id="rId82"/>
    <p:sldId id="335" r:id="rId83"/>
    <p:sldId id="336" r:id="rId84"/>
    <p:sldId id="337" r:id="rId85"/>
    <p:sldId id="338" r:id="rId86"/>
    <p:sldId id="339" r:id="rId87"/>
    <p:sldId id="340" r:id="rId88"/>
    <p:sldId id="341" r:id="rId89"/>
    <p:sldId id="343" r:id="rId90"/>
    <p:sldId id="344" r:id="rId91"/>
    <p:sldId id="345" r:id="rId92"/>
    <p:sldId id="346" r:id="rId93"/>
    <p:sldId id="347" r:id="rId94"/>
    <p:sldId id="348" r:id="rId95"/>
    <p:sldId id="349" r:id="rId96"/>
    <p:sldId id="359" r:id="rId97"/>
    <p:sldId id="350" r:id="rId98"/>
    <p:sldId id="351" r:id="rId99"/>
    <p:sldId id="352" r:id="rId100"/>
    <p:sldId id="353" r:id="rId101"/>
    <p:sldId id="354" r:id="rId102"/>
    <p:sldId id="355" r:id="rId103"/>
    <p:sldId id="362" r:id="rId104"/>
    <p:sldId id="364" r:id="rId105"/>
    <p:sldId id="365" r:id="rId106"/>
    <p:sldId id="366" r:id="rId107"/>
    <p:sldId id="371" r:id="rId108"/>
    <p:sldId id="373" r:id="rId109"/>
    <p:sldId id="367" r:id="rId110"/>
    <p:sldId id="368" r:id="rId111"/>
    <p:sldId id="369" r:id="rId112"/>
    <p:sldId id="370" r:id="rId113"/>
    <p:sldId id="372" r:id="rId11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p:scale>
          <a:sx n="100" d="100"/>
          <a:sy n="100" d="100"/>
        </p:scale>
        <p:origin x="-516" y="66"/>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theme" Target="theme/theme1.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102" Type="http://schemas.openxmlformats.org/officeDocument/2006/relationships/slide" Target="slides/slide101.xml"/><Relationship Id="rId110" Type="http://schemas.openxmlformats.org/officeDocument/2006/relationships/slide" Target="slides/slide109.xml"/><Relationship Id="rId115"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13" Type="http://schemas.openxmlformats.org/officeDocument/2006/relationships/slide" Target="slides/slide112.xml"/><Relationship Id="rId118"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slide" Target="slides/slide107.xml"/><Relationship Id="rId11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slide" Target="slides/slide11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slide" Target="slides/slide113.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12/17/2020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12/17/2020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12/17/2020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12/17/2020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12/17/2020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12/17/2020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12/17/2020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12/17/2020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12/17/2020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12/17/2020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12/17/2020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12/17/2020</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hyperlink" Target="https://www.geeksforgeeks.org/unified-modeling-language-uml-introduction/" TargetMode="Externa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800" dirty="0" smtClean="0"/>
              <a:t>Design Engineering</a:t>
            </a:r>
            <a:endParaRPr lang="en-US" sz="4800" dirty="0"/>
          </a:p>
        </p:txBody>
      </p:sp>
      <p:sp>
        <p:nvSpPr>
          <p:cNvPr id="3" name="Content Placeholder 2"/>
          <p:cNvSpPr>
            <a:spLocks noGrp="1"/>
          </p:cNvSpPr>
          <p:nvPr>
            <p:ph idx="1"/>
          </p:nvPr>
        </p:nvSpPr>
        <p:spPr/>
        <p:txBody>
          <a:bodyPr>
            <a:normAutofit/>
          </a:bodyPr>
          <a:lstStyle/>
          <a:p>
            <a:r>
              <a:rPr lang="en-US" sz="3600" dirty="0" smtClean="0">
                <a:latin typeface="Times New Roman" pitchFamily="18" charset="0"/>
                <a:cs typeface="Times New Roman" pitchFamily="18" charset="0"/>
              </a:rPr>
              <a:t>Design process and Design quality </a:t>
            </a:r>
          </a:p>
          <a:p>
            <a:r>
              <a:rPr lang="en-US" sz="3600" dirty="0" smtClean="0">
                <a:latin typeface="Times New Roman" pitchFamily="18" charset="0"/>
                <a:cs typeface="Times New Roman" pitchFamily="18" charset="0"/>
              </a:rPr>
              <a:t>Design concepts </a:t>
            </a:r>
          </a:p>
          <a:p>
            <a:r>
              <a:rPr lang="en-US" sz="3600" dirty="0" smtClean="0">
                <a:latin typeface="Times New Roman" pitchFamily="18" charset="0"/>
                <a:cs typeface="Times New Roman" pitchFamily="18" charset="0"/>
              </a:rPr>
              <a:t>Design models</a:t>
            </a:r>
            <a:endParaRPr lang="en-US" sz="3600" dirty="0">
              <a:latin typeface="Times New Roman" pitchFamily="18" charset="0"/>
              <a:cs typeface="Times New Roman"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Design Engineering</a:t>
            </a:r>
            <a:endParaRPr lang="en-US" dirty="0"/>
          </a:p>
        </p:txBody>
      </p:sp>
      <p:sp>
        <p:nvSpPr>
          <p:cNvPr id="3" name="Content Placeholder 2"/>
          <p:cNvSpPr>
            <a:spLocks noGrp="1"/>
          </p:cNvSpPr>
          <p:nvPr>
            <p:ph idx="1"/>
          </p:nvPr>
        </p:nvSpPr>
        <p:spPr/>
        <p:txBody>
          <a:bodyPr>
            <a:normAutofit fontScale="85000" lnSpcReduction="10000"/>
          </a:bodyPr>
          <a:lstStyle/>
          <a:p>
            <a:r>
              <a:rPr lang="en-US" dirty="0" smtClean="0"/>
              <a:t>Design engineering encompasses the set of principals, concepts, and practices that lead to the development of a high- quality system or product.</a:t>
            </a:r>
          </a:p>
          <a:p>
            <a:pPr lvl="0"/>
            <a:r>
              <a:rPr lang="en-US" dirty="0" smtClean="0"/>
              <a:t>Design principles establish an overriding philosophy that guides the designer in the work that is performed.</a:t>
            </a:r>
          </a:p>
          <a:p>
            <a:pPr lvl="0"/>
            <a:r>
              <a:rPr lang="en-US" dirty="0" smtClean="0"/>
              <a:t>Design concepts must be understood before the mechanics of design practice are applied and</a:t>
            </a:r>
          </a:p>
          <a:p>
            <a:pPr lvl="0"/>
            <a:r>
              <a:rPr lang="en-US" dirty="0" smtClean="0"/>
              <a:t>Design practice itself leads to the creation of various representations of the software that serve as a guide for the construction activity that follows.</a:t>
            </a:r>
          </a:p>
          <a:p>
            <a:r>
              <a:rPr lang="en-US" dirty="0" smtClean="0"/>
              <a:t> </a:t>
            </a:r>
          </a:p>
          <a:p>
            <a:endParaRPr lang="en-US" dirty="0" smtClean="0"/>
          </a:p>
          <a:p>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85000" lnSpcReduction="20000"/>
          </a:bodyPr>
          <a:lstStyle/>
          <a:p>
            <a:r>
              <a:rPr lang="en-US" dirty="0" smtClean="0"/>
              <a:t>What is design:</a:t>
            </a:r>
            <a:endParaRPr lang="en-US" b="1" dirty="0" smtClean="0"/>
          </a:p>
          <a:p>
            <a:r>
              <a:rPr lang="en-US" dirty="0" smtClean="0"/>
              <a:t>Design is what virtually every engineer wants to do. It is the place where creativity rules – customer’s requirements, business needs, and technical considerations all come together in the formulation of a product or a system. Design creates a representation or model of the software, but unlike the analysis model, the design model provides detail about software data structures, architecture, interfaces, and components that are necessary to implement the system.</a:t>
            </a:r>
          </a:p>
          <a:p>
            <a:r>
              <a:rPr lang="en-US" dirty="0" smtClean="0"/>
              <a:t> </a:t>
            </a:r>
          </a:p>
          <a:p>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lnSpcReduction="10000"/>
          </a:bodyPr>
          <a:lstStyle/>
          <a:p>
            <a:r>
              <a:rPr lang="en-US" dirty="0" smtClean="0"/>
              <a:t>Why is it important:</a:t>
            </a:r>
            <a:endParaRPr lang="en-US" b="1" dirty="0" smtClean="0"/>
          </a:p>
          <a:p>
            <a:r>
              <a:rPr lang="en-US" dirty="0" smtClean="0"/>
              <a:t>Design allows a software engineer to model the system or product that Is to be built. This model can be assessed for quality and improved before code is generated, tests are conducted, and end – users become involved in large numbers. Design is the place where software quality is established.</a:t>
            </a:r>
          </a:p>
          <a:p>
            <a:r>
              <a:rPr lang="en-US" dirty="0" smtClean="0"/>
              <a:t> </a:t>
            </a:r>
          </a:p>
          <a:p>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The goal of design engineering is to produce a model or representation that exhibits firmness, commodity, and delight. To accomplish this, a designer must practice diversification and then convergence. Another goal of software design is to derive an architectural rendering of a system. The rendering serves as a framework from which more detailed design activities are conducted.</a:t>
            </a:r>
          </a:p>
          <a:p>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Design Process And Design Quality:</a:t>
            </a:r>
            <a:br>
              <a:rPr lang="en-US" dirty="0" smtClean="0"/>
            </a:br>
            <a:endParaRPr lang="en-US" dirty="0"/>
          </a:p>
        </p:txBody>
      </p:sp>
      <p:sp>
        <p:nvSpPr>
          <p:cNvPr id="3" name="Content Placeholder 2"/>
          <p:cNvSpPr>
            <a:spLocks noGrp="1"/>
          </p:cNvSpPr>
          <p:nvPr>
            <p:ph idx="1"/>
          </p:nvPr>
        </p:nvSpPr>
        <p:spPr/>
        <p:txBody>
          <a:bodyPr/>
          <a:lstStyle/>
          <a:p>
            <a:r>
              <a:rPr lang="en-US" dirty="0" smtClean="0"/>
              <a:t>Software design is an iterative process through which requirements are translated into a “blueprint” for constructing the software.</a:t>
            </a:r>
          </a:p>
          <a:p>
            <a:pPr>
              <a:buNone/>
            </a:pPr>
            <a:endParaRPr lang="en-US" dirty="0" smtClean="0"/>
          </a:p>
          <a:p>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85000" lnSpcReduction="10000"/>
          </a:bodyPr>
          <a:lstStyle/>
          <a:p>
            <a:r>
              <a:rPr lang="en-US" dirty="0" smtClean="0"/>
              <a:t>Goals of design:</a:t>
            </a:r>
            <a:endParaRPr lang="en-US" sz="2000" b="1" dirty="0" smtClean="0"/>
          </a:p>
          <a:p>
            <a:r>
              <a:rPr lang="en-US" dirty="0" err="1" smtClean="0"/>
              <a:t>McGlaughlin</a:t>
            </a:r>
            <a:r>
              <a:rPr lang="en-US" dirty="0" smtClean="0"/>
              <a:t> suggests three characteristics that serve as a guide for the evaluation of a good design.</a:t>
            </a:r>
            <a:endParaRPr lang="en-US" sz="2000" dirty="0" smtClean="0"/>
          </a:p>
          <a:p>
            <a:pPr lvl="1"/>
            <a:r>
              <a:rPr lang="en-US" dirty="0" smtClean="0"/>
              <a:t>The design must implement all of the explicit requirements contained in the analysis model, and it must accommodate all of the implicit requirements desired by the customer.</a:t>
            </a:r>
            <a:endParaRPr lang="en-US" sz="2400" dirty="0" smtClean="0"/>
          </a:p>
          <a:p>
            <a:pPr lvl="1"/>
            <a:r>
              <a:rPr lang="en-US" dirty="0" smtClean="0"/>
              <a:t>The design must be a readable, understandable guide for those who generate code and for those who test and subsequently support the software.</a:t>
            </a:r>
            <a:endParaRPr lang="en-US" sz="2400" dirty="0" smtClean="0"/>
          </a:p>
          <a:p>
            <a:pPr lvl="1"/>
            <a:r>
              <a:rPr lang="en-US" dirty="0" smtClean="0"/>
              <a:t>The design should provide a complete picture of the software, addressing the data, functional, and behavioral domains from an implementation perspective.</a:t>
            </a:r>
            <a:endParaRPr lang="en-US" sz="2400" dirty="0" smtClean="0"/>
          </a:p>
          <a:p>
            <a:pPr>
              <a:buNone/>
            </a:pPr>
            <a:endParaRPr lang="en-US" sz="2000" b="1" dirty="0" smtClean="0"/>
          </a:p>
          <a:p>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Quality guidelines:</a:t>
            </a:r>
            <a:r>
              <a:rPr lang="en-US" sz="3200" b="1" dirty="0" smtClean="0"/>
              <a:t/>
            </a:r>
            <a:br>
              <a:rPr lang="en-US" sz="3200" b="1" dirty="0" smtClean="0"/>
            </a:br>
            <a:endParaRPr lang="en-US" dirty="0"/>
          </a:p>
        </p:txBody>
      </p:sp>
      <p:sp>
        <p:nvSpPr>
          <p:cNvPr id="3" name="Content Placeholder 2"/>
          <p:cNvSpPr>
            <a:spLocks noGrp="1"/>
          </p:cNvSpPr>
          <p:nvPr>
            <p:ph idx="1"/>
          </p:nvPr>
        </p:nvSpPr>
        <p:spPr/>
        <p:txBody>
          <a:bodyPr>
            <a:normAutofit fontScale="92500" lnSpcReduction="20000"/>
          </a:bodyPr>
          <a:lstStyle/>
          <a:p>
            <a:r>
              <a:rPr lang="en-US" dirty="0" smtClean="0"/>
              <a:t>In order to evaluate the quality of a design representation we must establish technical criteria for good design. These are the following guidelines:</a:t>
            </a:r>
            <a:endParaRPr lang="en-US" sz="2000" dirty="0" smtClean="0"/>
          </a:p>
          <a:p>
            <a:pPr lvl="0"/>
            <a:r>
              <a:rPr lang="en-US" dirty="0" smtClean="0"/>
              <a:t>A design should exhibit an architecture that</a:t>
            </a:r>
            <a:endParaRPr lang="en-US" sz="2800" dirty="0" smtClean="0"/>
          </a:p>
          <a:p>
            <a:pPr lvl="1"/>
            <a:r>
              <a:rPr lang="en-US" dirty="0" smtClean="0"/>
              <a:t>has been created using recognizable architectural styles or patterns</a:t>
            </a:r>
            <a:endParaRPr lang="en-US" sz="2400" dirty="0" smtClean="0"/>
          </a:p>
          <a:p>
            <a:pPr lvl="1"/>
            <a:r>
              <a:rPr lang="en-US" dirty="0" smtClean="0"/>
              <a:t>is composed of components that exhibit good design characteristics and</a:t>
            </a:r>
            <a:endParaRPr lang="en-US" sz="2400" dirty="0" smtClean="0"/>
          </a:p>
          <a:p>
            <a:r>
              <a:rPr lang="en-US" dirty="0" smtClean="0"/>
              <a:t>can be implemented in an evolutionary fashion, thereby facilitating implementation and testing.</a:t>
            </a:r>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10000"/>
          </a:bodyPr>
          <a:lstStyle/>
          <a:p>
            <a:pPr lvl="0"/>
            <a:r>
              <a:rPr lang="en-US" dirty="0" smtClean="0"/>
              <a:t>A design should be modular; that is, the software should be logically partitioned into elements or subsystems.</a:t>
            </a:r>
          </a:p>
          <a:p>
            <a:pPr lvl="0"/>
            <a:r>
              <a:rPr lang="en-US" dirty="0" smtClean="0"/>
              <a:t>A design should contain distinct representation of data, architecture, interfaces and components.</a:t>
            </a:r>
          </a:p>
          <a:p>
            <a:pPr lvl="0"/>
            <a:r>
              <a:rPr lang="en-US" dirty="0" smtClean="0"/>
              <a:t>A design should lead to data structures that are appropriate for the classes to be implemented and are drawn from recognizable data patterns.</a:t>
            </a:r>
          </a:p>
          <a:p>
            <a:pPr lvl="0"/>
            <a:r>
              <a:rPr lang="en-US" dirty="0" smtClean="0"/>
              <a:t>A design should lead to components that exhibit independent functional characteristics.</a:t>
            </a:r>
          </a:p>
          <a:p>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a:bodyPr>
          <a:lstStyle/>
          <a:p>
            <a:pPr lvl="0"/>
            <a:r>
              <a:rPr lang="en-US" dirty="0" smtClean="0"/>
              <a:t>A design should lead to interface that reduce the complexity of connections between components and with the external environment.</a:t>
            </a:r>
          </a:p>
          <a:p>
            <a:pPr lvl="0"/>
            <a:r>
              <a:rPr lang="en-US" dirty="0" smtClean="0"/>
              <a:t>A design should be derived using a repeatable method that is driven by information obtained during software requirements analysis.</a:t>
            </a:r>
          </a:p>
          <a:p>
            <a:r>
              <a:rPr lang="en-US" dirty="0" smtClean="0"/>
              <a:t>A design should be represented using a notation that effectively communication its meaning.</a:t>
            </a:r>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Quality attributes</a:t>
            </a:r>
            <a:br>
              <a:rPr lang="en-US" dirty="0" smtClean="0"/>
            </a:br>
            <a:endParaRPr lang="en-US" dirty="0"/>
          </a:p>
        </p:txBody>
      </p:sp>
      <p:sp>
        <p:nvSpPr>
          <p:cNvPr id="3" name="Content Placeholder 2"/>
          <p:cNvSpPr>
            <a:spLocks noGrp="1"/>
          </p:cNvSpPr>
          <p:nvPr>
            <p:ph idx="1"/>
          </p:nvPr>
        </p:nvSpPr>
        <p:spPr/>
        <p:txBody>
          <a:bodyPr>
            <a:normAutofit fontScale="85000" lnSpcReduction="20000"/>
          </a:bodyPr>
          <a:lstStyle/>
          <a:p>
            <a:pPr>
              <a:buNone/>
            </a:pPr>
            <a:r>
              <a:rPr lang="en-US" b="1" dirty="0" smtClean="0"/>
              <a:t>The attributes of design name as 'FURPS' are as follows:</a:t>
            </a:r>
          </a:p>
          <a:p>
            <a:pPr lvl="0"/>
            <a:r>
              <a:rPr lang="en-US" dirty="0" smtClean="0"/>
              <a:t>Functionality is assessed by evaluating the feature set and capabilities of the program, the generality of the functions that are delivered, and the security of the overall system.</a:t>
            </a:r>
          </a:p>
          <a:p>
            <a:pPr lvl="0"/>
            <a:r>
              <a:rPr lang="en-US" dirty="0" smtClean="0"/>
              <a:t>Usability is assessed by considering human factors, overall aesthetics, consistency and documentation.</a:t>
            </a:r>
          </a:p>
          <a:p>
            <a:pPr lvl="0"/>
            <a:r>
              <a:rPr lang="en-US" dirty="0" smtClean="0"/>
              <a:t>Reliability is evaluated by measuring the frequency and severity of failure, the accuracy of output results, and the mean – time –to- failure (MTTF), the ability to recover from failure, and the predictability of the program.</a:t>
            </a:r>
          </a:p>
          <a:p>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lvl="0"/>
            <a:r>
              <a:rPr lang="en-US" dirty="0" smtClean="0"/>
              <a:t>Performance is measured by processing speed, response time, resource consumption, throughput, and efficiency</a:t>
            </a:r>
          </a:p>
          <a:p>
            <a:pPr lvl="0"/>
            <a:r>
              <a:rPr lang="en-US" dirty="0" smtClean="0"/>
              <a:t>Supportability combines the ability to extend the program (extensibility), adaptability, serviceability- these three attributes represent a more common term maintainability</a:t>
            </a:r>
          </a:p>
          <a:p>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DESIGN CONCEPTS</a:t>
            </a:r>
            <a:r>
              <a:rPr lang="en-US" dirty="0" smtClean="0"/>
              <a:t/>
            </a:r>
            <a:br>
              <a:rPr lang="en-US" dirty="0" smtClean="0"/>
            </a:br>
            <a:endParaRPr lang="en-US" dirty="0"/>
          </a:p>
        </p:txBody>
      </p:sp>
      <p:sp>
        <p:nvSpPr>
          <p:cNvPr id="3" name="Content Placeholder 2"/>
          <p:cNvSpPr>
            <a:spLocks noGrp="1"/>
          </p:cNvSpPr>
          <p:nvPr>
            <p:ph idx="1"/>
          </p:nvPr>
        </p:nvSpPr>
        <p:spPr/>
        <p:txBody>
          <a:bodyPr/>
          <a:lstStyle/>
          <a:p>
            <a:r>
              <a:rPr lang="en-US" b="1" dirty="0" smtClean="0"/>
              <a:t>The set of fundamental software design concepts are as follows:</a:t>
            </a:r>
            <a:r>
              <a:rPr lang="en-US" dirty="0" smtClean="0"/>
              <a:t/>
            </a:r>
            <a:br>
              <a:rPr lang="en-US" dirty="0" smtClean="0"/>
            </a:br>
            <a:r>
              <a:rPr lang="en-US" b="1" dirty="0" smtClean="0"/>
              <a:t>1. Abstraction      7. Refinement</a:t>
            </a:r>
          </a:p>
          <a:p>
            <a:r>
              <a:rPr lang="en-US" b="1" dirty="0" smtClean="0"/>
              <a:t>2. Architecture    8. Refactoring</a:t>
            </a:r>
          </a:p>
          <a:p>
            <a:r>
              <a:rPr lang="en-US" b="1" dirty="0" smtClean="0"/>
              <a:t>3. Patterns            9. Design classes</a:t>
            </a:r>
          </a:p>
          <a:p>
            <a:r>
              <a:rPr lang="en-US" b="1" dirty="0" smtClean="0"/>
              <a:t>4. Modularity</a:t>
            </a:r>
          </a:p>
          <a:p>
            <a:r>
              <a:rPr lang="en-US" b="1" dirty="0" smtClean="0"/>
              <a:t>5. Information hiding</a:t>
            </a:r>
          </a:p>
          <a:p>
            <a:r>
              <a:rPr lang="en-US" b="1" dirty="0" smtClean="0"/>
              <a:t>6. Functional independence</a:t>
            </a:r>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10000"/>
          </a:bodyPr>
          <a:lstStyle/>
          <a:p>
            <a:pPr>
              <a:buNone/>
            </a:pPr>
            <a:r>
              <a:rPr lang="en-US" b="1" dirty="0" smtClean="0"/>
              <a:t>1. Abstraction</a:t>
            </a:r>
          </a:p>
          <a:p>
            <a:r>
              <a:rPr lang="en-US" sz="3000" dirty="0" smtClean="0"/>
              <a:t>A solution is stated in large terms using the language of the problem environment at the highest level abstraction.</a:t>
            </a:r>
          </a:p>
          <a:p>
            <a:r>
              <a:rPr lang="en-US" sz="3000" dirty="0" smtClean="0"/>
              <a:t>The lower level of abstraction provides a more detail description of the solution.</a:t>
            </a:r>
          </a:p>
          <a:p>
            <a:r>
              <a:rPr lang="en-US" sz="3000" dirty="0" smtClean="0"/>
              <a:t>A sequence of instruction that contain a specific and limited function refers in a procedural abstraction.</a:t>
            </a:r>
          </a:p>
          <a:p>
            <a:r>
              <a:rPr lang="en-US" sz="3000" dirty="0" smtClean="0"/>
              <a:t>A collection of data that describes a data object is a data abstraction.</a:t>
            </a:r>
          </a:p>
          <a:p>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77500" lnSpcReduction="20000"/>
          </a:bodyPr>
          <a:lstStyle/>
          <a:p>
            <a:r>
              <a:rPr lang="en-US" b="1" dirty="0" smtClean="0"/>
              <a:t>2. Architecture</a:t>
            </a:r>
          </a:p>
          <a:p>
            <a:r>
              <a:rPr lang="en-US" dirty="0" smtClean="0"/>
              <a:t>The complete structure of the software is known as software architecture.</a:t>
            </a:r>
          </a:p>
          <a:p>
            <a:r>
              <a:rPr lang="en-US" dirty="0" smtClean="0"/>
              <a:t>Structure provides conceptual integrity for a system in a number of ways.</a:t>
            </a:r>
          </a:p>
          <a:p>
            <a:r>
              <a:rPr lang="en-US" dirty="0" smtClean="0"/>
              <a:t>The architecture is the structure of program modules where they interact with each other in a specialized way.</a:t>
            </a:r>
          </a:p>
          <a:p>
            <a:r>
              <a:rPr lang="en-US" dirty="0" smtClean="0"/>
              <a:t>The components use the structure of data.</a:t>
            </a:r>
          </a:p>
          <a:p>
            <a:r>
              <a:rPr lang="en-US" dirty="0" smtClean="0"/>
              <a:t>The aim of the software design is to obtain an architectural framework of a system.</a:t>
            </a:r>
          </a:p>
          <a:p>
            <a:r>
              <a:rPr lang="en-US" dirty="0" smtClean="0"/>
              <a:t>The more detailed design activities are conducted from the framework.</a:t>
            </a:r>
          </a:p>
          <a:p>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85000" lnSpcReduction="20000"/>
          </a:bodyPr>
          <a:lstStyle/>
          <a:p>
            <a:r>
              <a:rPr lang="en-US" b="1" dirty="0" smtClean="0"/>
              <a:t>3. Patterns</a:t>
            </a:r>
            <a:r>
              <a:rPr lang="en-US" dirty="0" smtClean="0"/>
              <a:t/>
            </a:r>
            <a:br>
              <a:rPr lang="en-US" dirty="0" smtClean="0"/>
            </a:br>
            <a:r>
              <a:rPr lang="en-US" dirty="0" smtClean="0"/>
              <a:t>A design pattern describes a design structure and that structure solves a particular design problem in a specified content.</a:t>
            </a:r>
            <a:br>
              <a:rPr lang="en-US" dirty="0" smtClean="0"/>
            </a:br>
            <a:r>
              <a:rPr lang="en-US" dirty="0" smtClean="0"/>
              <a:t/>
            </a:r>
            <a:br>
              <a:rPr lang="en-US" dirty="0" smtClean="0"/>
            </a:br>
            <a:r>
              <a:rPr lang="en-US" b="1" dirty="0" smtClean="0"/>
              <a:t>4. Modularity</a:t>
            </a:r>
          </a:p>
          <a:p>
            <a:r>
              <a:rPr lang="en-US" dirty="0" smtClean="0"/>
              <a:t>A software is separately divided into name and addressable components. Sometime they are called as modules which integrate to satisfy the problem requirements.</a:t>
            </a:r>
          </a:p>
          <a:p>
            <a:r>
              <a:rPr lang="en-US" dirty="0" smtClean="0"/>
              <a:t>Modularity is the single attribute of a software that permits a program to be managed easily.</a:t>
            </a:r>
          </a:p>
          <a:p>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85000" lnSpcReduction="20000"/>
          </a:bodyPr>
          <a:lstStyle/>
          <a:p>
            <a:r>
              <a:rPr lang="en-US" b="1" dirty="0" smtClean="0"/>
              <a:t>5. Information hiding</a:t>
            </a:r>
            <a:r>
              <a:rPr lang="en-US" dirty="0" smtClean="0"/>
              <a:t/>
            </a:r>
            <a:br>
              <a:rPr lang="en-US" dirty="0" smtClean="0"/>
            </a:br>
            <a:r>
              <a:rPr lang="en-US" dirty="0" smtClean="0"/>
              <a:t>Modules must be specified and designed so that the information like algorithm and data presented in a module is not accessible for other modules not requiring that information.</a:t>
            </a:r>
            <a:br>
              <a:rPr lang="en-US" dirty="0" smtClean="0"/>
            </a:br>
            <a:r>
              <a:rPr lang="en-US" dirty="0" smtClean="0"/>
              <a:t/>
            </a:r>
            <a:br>
              <a:rPr lang="en-US" dirty="0" smtClean="0"/>
            </a:br>
            <a:r>
              <a:rPr lang="en-US" b="1" dirty="0" smtClean="0"/>
              <a:t>6. Functional independence</a:t>
            </a:r>
          </a:p>
          <a:p>
            <a:r>
              <a:rPr lang="en-US" dirty="0" smtClean="0"/>
              <a:t>The functional independence is the concept of separation and related to the concept of modularity, abstraction and information hiding.</a:t>
            </a:r>
          </a:p>
          <a:p>
            <a:r>
              <a:rPr lang="en-US" dirty="0" smtClean="0"/>
              <a:t>The functional independence is accessed using two criteria </a:t>
            </a:r>
            <a:r>
              <a:rPr lang="en-US" dirty="0" err="1" smtClean="0"/>
              <a:t>i.e</a:t>
            </a:r>
            <a:r>
              <a:rPr lang="en-US" dirty="0" smtClean="0"/>
              <a:t> Cohesion and coupling.</a:t>
            </a:r>
          </a:p>
          <a:p>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lnSpcReduction="10000"/>
          </a:bodyPr>
          <a:lstStyle/>
          <a:p>
            <a:r>
              <a:rPr lang="en-US" b="1" dirty="0" err="1" smtClean="0"/>
              <a:t>cohesion</a:t>
            </a:r>
            <a:r>
              <a:rPr lang="en-US" dirty="0" err="1" smtClean="0"/>
              <a:t>Cohesion</a:t>
            </a:r>
            <a:r>
              <a:rPr lang="en-US" dirty="0" smtClean="0"/>
              <a:t> is an extension of the information hiding concept.</a:t>
            </a:r>
          </a:p>
          <a:p>
            <a:r>
              <a:rPr lang="en-US" dirty="0" smtClean="0"/>
              <a:t>A cohesive module performs a single task and it requires a small interaction with the other components in other parts of the program.</a:t>
            </a:r>
          </a:p>
          <a:p>
            <a:r>
              <a:rPr lang="en-US" b="1" dirty="0" smtClean="0"/>
              <a:t>Coupling</a:t>
            </a:r>
            <a:r>
              <a:rPr lang="en-US" dirty="0" smtClean="0"/>
              <a:t/>
            </a:r>
            <a:br>
              <a:rPr lang="en-US" dirty="0" smtClean="0"/>
            </a:br>
            <a:r>
              <a:rPr lang="en-US" dirty="0" smtClean="0"/>
              <a:t>Coupling is an indication of interconnection between modules in a structure of software.</a:t>
            </a:r>
            <a:br>
              <a:rPr lang="en-US" dirty="0" smtClean="0"/>
            </a:br>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lnSpcReduction="10000"/>
          </a:bodyPr>
          <a:lstStyle/>
          <a:p>
            <a:pPr>
              <a:buNone/>
            </a:pPr>
            <a:r>
              <a:rPr lang="en-US" b="1" dirty="0" smtClean="0"/>
              <a:t>7. Refinement</a:t>
            </a:r>
          </a:p>
          <a:p>
            <a:pPr>
              <a:buNone/>
            </a:pPr>
            <a:r>
              <a:rPr lang="en-US" dirty="0" smtClean="0"/>
              <a:t>Refinement is a top-down design approach.</a:t>
            </a:r>
          </a:p>
          <a:p>
            <a:r>
              <a:rPr lang="en-US" dirty="0" smtClean="0"/>
              <a:t>It is a process of elaboration.</a:t>
            </a:r>
          </a:p>
          <a:p>
            <a:r>
              <a:rPr lang="en-US" dirty="0" smtClean="0"/>
              <a:t>A program is established for refining levels of procedural details.</a:t>
            </a:r>
          </a:p>
          <a:p>
            <a:r>
              <a:rPr lang="en-US" dirty="0" smtClean="0"/>
              <a:t>A hierarchy is established by decomposing a statement of  function in a stepwise manner till the programming language statement are reached.</a:t>
            </a:r>
          </a:p>
          <a:p>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buNone/>
            </a:pPr>
            <a:r>
              <a:rPr lang="en-US" b="1" dirty="0" smtClean="0"/>
              <a:t>8. Refactoring</a:t>
            </a:r>
          </a:p>
          <a:p>
            <a:r>
              <a:rPr lang="en-US" dirty="0" smtClean="0"/>
              <a:t>It is a reorganization technique which simplifies the design of components without changing its function </a:t>
            </a:r>
            <a:r>
              <a:rPr lang="en-US" dirty="0" err="1" smtClean="0"/>
              <a:t>behaviour</a:t>
            </a:r>
            <a:r>
              <a:rPr lang="en-US" dirty="0" smtClean="0"/>
              <a:t>.</a:t>
            </a:r>
          </a:p>
          <a:p>
            <a:r>
              <a:rPr lang="en-US" dirty="0" smtClean="0"/>
              <a:t>Refactoring is the process of changing the software system in a way that it does not change the external </a:t>
            </a:r>
            <a:r>
              <a:rPr lang="en-US" dirty="0" err="1" smtClean="0"/>
              <a:t>behaviour</a:t>
            </a:r>
            <a:r>
              <a:rPr lang="en-US" dirty="0" smtClean="0"/>
              <a:t> of the code still improves its internal structure.</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buNone/>
            </a:pPr>
            <a:r>
              <a:rPr lang="en-US" b="1" dirty="0" smtClean="0"/>
              <a:t>9. Design classes</a:t>
            </a:r>
          </a:p>
          <a:p>
            <a:r>
              <a:rPr lang="en-US" dirty="0" smtClean="0"/>
              <a:t>The model of software is defined as a set of design classes.</a:t>
            </a:r>
          </a:p>
          <a:p>
            <a:r>
              <a:rPr lang="en-US" dirty="0" smtClean="0"/>
              <a:t>Every class describes the elements of problem domain and that focus on features of the problem which are user visible.</a:t>
            </a:r>
          </a:p>
          <a:p>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Design model</a:t>
            </a:r>
            <a:r>
              <a:rPr lang="en-US" dirty="0" smtClean="0"/>
              <a:t> </a:t>
            </a:r>
            <a:endParaRPr lang="en-US" dirty="0"/>
          </a:p>
        </p:txBody>
      </p:sp>
      <p:sp>
        <p:nvSpPr>
          <p:cNvPr id="3" name="Content Placeholder 2"/>
          <p:cNvSpPr>
            <a:spLocks noGrp="1"/>
          </p:cNvSpPr>
          <p:nvPr>
            <p:ph idx="1"/>
          </p:nvPr>
        </p:nvSpPr>
        <p:spPr/>
        <p:txBody>
          <a:bodyPr/>
          <a:lstStyle/>
          <a:p>
            <a:r>
              <a:rPr lang="en-US" dirty="0" smtClean="0"/>
              <a:t>The </a:t>
            </a:r>
            <a:r>
              <a:rPr lang="en-US" b="1" dirty="0" smtClean="0"/>
              <a:t>design model</a:t>
            </a:r>
            <a:r>
              <a:rPr lang="en-US" dirty="0" smtClean="0"/>
              <a:t> is an abstraction of the implementation of the system. It is used to conceive as well as document the </a:t>
            </a:r>
            <a:r>
              <a:rPr lang="en-US" b="1" dirty="0" smtClean="0"/>
              <a:t>design</a:t>
            </a:r>
            <a:r>
              <a:rPr lang="en-US" dirty="0" smtClean="0"/>
              <a:t> of the </a:t>
            </a:r>
            <a:r>
              <a:rPr lang="en-US" b="1" dirty="0" smtClean="0"/>
              <a:t>software</a:t>
            </a:r>
            <a:r>
              <a:rPr lang="en-US" dirty="0" smtClean="0"/>
              <a:t> system. It is a comprehensive, composite artifact encompassing all </a:t>
            </a:r>
            <a:r>
              <a:rPr lang="en-US" b="1" dirty="0" smtClean="0"/>
              <a:t>design</a:t>
            </a:r>
            <a:r>
              <a:rPr lang="en-US" dirty="0" smtClean="0"/>
              <a:t> classes, subsystems, packages, collaborations, and the relationships between them.</a:t>
            </a:r>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design model</a:t>
            </a:r>
            <a:endParaRPr lang="en-US" dirty="0"/>
          </a:p>
        </p:txBody>
      </p:sp>
      <p:sp>
        <p:nvSpPr>
          <p:cNvPr id="3" name="Content Placeholder 2"/>
          <p:cNvSpPr>
            <a:spLocks noGrp="1"/>
          </p:cNvSpPr>
          <p:nvPr>
            <p:ph idx="1"/>
          </p:nvPr>
        </p:nvSpPr>
        <p:spPr/>
        <p:txBody>
          <a:bodyPr/>
          <a:lstStyle/>
          <a:p>
            <a:r>
              <a:rPr lang="en-US" dirty="0" smtClean="0"/>
              <a:t>The design model can be viewed in two different dimensions.</a:t>
            </a:r>
          </a:p>
          <a:p>
            <a:pPr lvl="1"/>
            <a:r>
              <a:rPr lang="en-US" dirty="0" smtClean="0"/>
              <a:t>(Horizontally) The process dimension</a:t>
            </a:r>
          </a:p>
          <a:p>
            <a:pPr lvl="2"/>
            <a:r>
              <a:rPr lang="en-US" dirty="0" smtClean="0"/>
              <a:t>It indicates the evolution of the parts of the design model as each design task is executed.</a:t>
            </a:r>
          </a:p>
          <a:p>
            <a:pPr lvl="1"/>
            <a:r>
              <a:rPr lang="en-US" dirty="0" smtClean="0"/>
              <a:t>(Vertically) The abstraction dimension </a:t>
            </a:r>
          </a:p>
          <a:p>
            <a:pPr lvl="1">
              <a:buNone/>
            </a:pPr>
            <a:r>
              <a:rPr lang="en-US" dirty="0" smtClean="0"/>
              <a:t>It  represents the level of detail as each element of the analysis model is transformed into the design model and then iteratively refined. </a:t>
            </a:r>
          </a:p>
          <a:p>
            <a:pPr lvl="1"/>
            <a:endParaRPr lang="en-US" dirty="0" smtClean="0"/>
          </a:p>
          <a:p>
            <a:endParaRPr 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10000"/>
          </a:bodyPr>
          <a:lstStyle/>
          <a:p>
            <a:r>
              <a:rPr lang="en-US" dirty="0" smtClean="0"/>
              <a:t>The elements of the design model use many of the same UML diagrams that were used in the analysis model.</a:t>
            </a:r>
          </a:p>
          <a:p>
            <a:r>
              <a:rPr lang="en-US" dirty="0" smtClean="0"/>
              <a:t>The difference is that these diagrams are  </a:t>
            </a:r>
          </a:p>
          <a:p>
            <a:pPr lvl="1"/>
            <a:r>
              <a:rPr lang="en-US" dirty="0" smtClean="0"/>
              <a:t>Refined and elaborated as part of design; </a:t>
            </a:r>
          </a:p>
          <a:p>
            <a:pPr lvl="1"/>
            <a:r>
              <a:rPr lang="en-US" dirty="0" smtClean="0"/>
              <a:t>More implementation-specific detail is provided, </a:t>
            </a:r>
          </a:p>
          <a:p>
            <a:pPr lvl="1"/>
            <a:r>
              <a:rPr lang="en-US" dirty="0" smtClean="0"/>
              <a:t>Architectural structure and style, components that reside within the architecture, </a:t>
            </a:r>
          </a:p>
          <a:p>
            <a:pPr lvl="1"/>
            <a:r>
              <a:rPr lang="en-US" dirty="0" smtClean="0"/>
              <a:t>Interfaces between the components and with the outside world are all emphasized.</a:t>
            </a:r>
          </a:p>
          <a:p>
            <a:endParaRPr 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Users\GANESH\Desktop\designModelIntroduction.jpg"/>
          <p:cNvPicPr>
            <a:picLocks noChangeAspect="1" noChangeArrowheads="1"/>
          </p:cNvPicPr>
          <p:nvPr/>
        </p:nvPicPr>
        <p:blipFill>
          <a:blip r:embed="rId2"/>
          <a:srcRect/>
          <a:stretch>
            <a:fillRect/>
          </a:stretch>
        </p:blipFill>
        <p:spPr bwMode="auto">
          <a:xfrm>
            <a:off x="200025" y="538163"/>
            <a:ext cx="8743950" cy="5781675"/>
          </a:xfrm>
          <a:prstGeom prst="rect">
            <a:avLst/>
          </a:prstGeom>
          <a:noFill/>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Following are the types of design elements:</a:t>
            </a:r>
            <a:endParaRPr lang="en-US" dirty="0"/>
          </a:p>
        </p:txBody>
      </p:sp>
      <p:sp>
        <p:nvSpPr>
          <p:cNvPr id="3" name="Content Placeholder 2"/>
          <p:cNvSpPr>
            <a:spLocks noGrp="1"/>
          </p:cNvSpPr>
          <p:nvPr>
            <p:ph idx="1"/>
          </p:nvPr>
        </p:nvSpPr>
        <p:spPr/>
        <p:txBody>
          <a:bodyPr/>
          <a:lstStyle/>
          <a:p>
            <a:pPr>
              <a:buNone/>
            </a:pPr>
            <a:r>
              <a:rPr lang="en-US" b="1" dirty="0" smtClean="0"/>
              <a:t>1. Data design elements</a:t>
            </a:r>
          </a:p>
          <a:p>
            <a:pPr>
              <a:buNone/>
            </a:pPr>
            <a:r>
              <a:rPr lang="en-US" b="1" dirty="0" smtClean="0"/>
              <a:t>2. Architectural design elements</a:t>
            </a:r>
          </a:p>
          <a:p>
            <a:pPr>
              <a:buNone/>
            </a:pPr>
            <a:r>
              <a:rPr lang="en-US" b="1" dirty="0" smtClean="0"/>
              <a:t>3. Interface design elements</a:t>
            </a:r>
          </a:p>
          <a:p>
            <a:pPr>
              <a:buNone/>
            </a:pPr>
            <a:r>
              <a:rPr lang="en-US" b="1" dirty="0" smtClean="0"/>
              <a:t>4. Component level diagram elements</a:t>
            </a:r>
          </a:p>
          <a:p>
            <a:pPr>
              <a:buNone/>
            </a:pPr>
            <a:r>
              <a:rPr lang="en-US" b="1" dirty="0" smtClean="0"/>
              <a:t>5. Deployment level design elements</a:t>
            </a:r>
            <a:endParaRPr 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Data design elements: </a:t>
            </a:r>
            <a:endParaRPr lang="en-US" dirty="0"/>
          </a:p>
        </p:txBody>
      </p:sp>
      <p:sp>
        <p:nvSpPr>
          <p:cNvPr id="3" name="Content Placeholder 2"/>
          <p:cNvSpPr>
            <a:spLocks noGrp="1"/>
          </p:cNvSpPr>
          <p:nvPr>
            <p:ph idx="1"/>
          </p:nvPr>
        </p:nvSpPr>
        <p:spPr/>
        <p:txBody>
          <a:bodyPr>
            <a:normAutofit/>
          </a:bodyPr>
          <a:lstStyle/>
          <a:p>
            <a:r>
              <a:rPr lang="en-US" dirty="0" smtClean="0"/>
              <a:t>The data design element produced a model of data that represent a high level of abstraction.</a:t>
            </a:r>
          </a:p>
          <a:p>
            <a:r>
              <a:rPr lang="en-US" dirty="0" smtClean="0"/>
              <a:t>This data model is then refined into progressively more implementation-specific representations that can be processed by the computer-based system</a:t>
            </a:r>
            <a:r>
              <a:rPr lang="en-US" b="1" dirty="0" smtClean="0"/>
              <a:t>. </a:t>
            </a:r>
          </a:p>
          <a:p>
            <a:r>
              <a:rPr lang="en-US" dirty="0" smtClean="0"/>
              <a:t>The structure of data has always been an important part of software design. </a:t>
            </a:r>
            <a:endParaRPr 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b="1" dirty="0" smtClean="0"/>
              <a:t>Program Component Level:</a:t>
            </a:r>
            <a:r>
              <a:rPr lang="en-US" dirty="0" smtClean="0"/>
              <a:t> The design of Data structure &amp; algorithms. </a:t>
            </a:r>
          </a:p>
          <a:p>
            <a:r>
              <a:rPr lang="en-US" b="1" dirty="0" smtClean="0"/>
              <a:t>Application Level:</a:t>
            </a:r>
            <a:r>
              <a:rPr lang="en-US" dirty="0" smtClean="0"/>
              <a:t> Translate Data Model into a database. </a:t>
            </a:r>
          </a:p>
          <a:p>
            <a:r>
              <a:rPr lang="en-US" b="1" dirty="0" smtClean="0"/>
              <a:t>Business Level:</a:t>
            </a:r>
            <a:r>
              <a:rPr lang="en-US" dirty="0" smtClean="0"/>
              <a:t> Data warehouse(Reporting &amp; Analysis of DB) &amp; Data mining(Analysis). </a:t>
            </a:r>
          </a:p>
          <a:p>
            <a:r>
              <a:rPr lang="en-US" b="1" dirty="0" smtClean="0"/>
              <a:t>At last it means creation of Data Dictionary.</a:t>
            </a:r>
            <a:endParaRPr lang="en-US" dirty="0" smtClean="0"/>
          </a:p>
          <a:p>
            <a:endParaRPr 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Architectural design elements: </a:t>
            </a:r>
            <a:endParaRPr lang="en-US" dirty="0"/>
          </a:p>
        </p:txBody>
      </p:sp>
      <p:sp>
        <p:nvSpPr>
          <p:cNvPr id="3" name="Content Placeholder 2"/>
          <p:cNvSpPr>
            <a:spLocks noGrp="1"/>
          </p:cNvSpPr>
          <p:nvPr>
            <p:ph idx="1"/>
          </p:nvPr>
        </p:nvSpPr>
        <p:spPr/>
        <p:txBody>
          <a:bodyPr>
            <a:normAutofit fontScale="92500" lnSpcReduction="20000"/>
          </a:bodyPr>
          <a:lstStyle/>
          <a:p>
            <a:r>
              <a:rPr lang="en-US" dirty="0" smtClean="0"/>
              <a:t>Provides an overall view of the software product(Similar like Floor Plan of house) </a:t>
            </a:r>
          </a:p>
          <a:p>
            <a:r>
              <a:rPr lang="en-US" dirty="0" smtClean="0"/>
              <a:t>The architectural model is derived from three sources:</a:t>
            </a:r>
          </a:p>
          <a:p>
            <a:pPr lvl="1"/>
            <a:r>
              <a:rPr lang="en-US" dirty="0" smtClean="0"/>
              <a:t>(1) Information about the application domain for the software to be built; </a:t>
            </a:r>
          </a:p>
          <a:p>
            <a:pPr lvl="1"/>
            <a:r>
              <a:rPr lang="en-US" dirty="0" smtClean="0"/>
              <a:t>(2) Specific requirements model elements such as data flow diagrams or analysis classes, their relationships and collaborations for the problem at hand; </a:t>
            </a:r>
          </a:p>
          <a:p>
            <a:pPr lvl="1"/>
            <a:r>
              <a:rPr lang="en-US" dirty="0" smtClean="0"/>
              <a:t>(3) The availability of architectural styles and patterns</a:t>
            </a:r>
          </a:p>
          <a:p>
            <a:endParaRPr 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b="1" dirty="0" smtClean="0"/>
              <a:t>Difference</a:t>
            </a:r>
            <a:r>
              <a:rPr lang="en-US" dirty="0" smtClean="0"/>
              <a:t>: An </a:t>
            </a:r>
            <a:r>
              <a:rPr lang="en-US" b="1" dirty="0" smtClean="0"/>
              <a:t>architectural style </a:t>
            </a:r>
            <a:r>
              <a:rPr lang="en-US" dirty="0" smtClean="0"/>
              <a:t>is a conceptual way of how the system will be created / will work. </a:t>
            </a:r>
          </a:p>
          <a:p>
            <a:r>
              <a:rPr lang="en-US" dirty="0" smtClean="0"/>
              <a:t>An </a:t>
            </a:r>
            <a:r>
              <a:rPr lang="en-US" b="1" dirty="0" smtClean="0"/>
              <a:t>architectural pattern </a:t>
            </a:r>
            <a:r>
              <a:rPr lang="en-US" dirty="0" smtClean="0"/>
              <a:t>describes a solution for implementing a style at the level of subsystems or modules and their relationships.</a:t>
            </a:r>
          </a:p>
          <a:p>
            <a:endParaRPr 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Interface design elements </a:t>
            </a:r>
            <a:endParaRPr lang="en-US" dirty="0"/>
          </a:p>
        </p:txBody>
      </p:sp>
      <p:sp>
        <p:nvSpPr>
          <p:cNvPr id="3" name="Content Placeholder 2"/>
          <p:cNvSpPr>
            <a:spLocks noGrp="1"/>
          </p:cNvSpPr>
          <p:nvPr>
            <p:ph idx="1"/>
          </p:nvPr>
        </p:nvSpPr>
        <p:spPr/>
        <p:txBody>
          <a:bodyPr>
            <a:normAutofit fontScale="92500" lnSpcReduction="10000"/>
          </a:bodyPr>
          <a:lstStyle/>
          <a:p>
            <a:r>
              <a:rPr lang="en-US" sz="2800" dirty="0" smtClean="0"/>
              <a:t>The interface design elements for software represent information flows into and out of the system and how it is communicated among the components defined as part of the architecture. </a:t>
            </a:r>
          </a:p>
          <a:p>
            <a:r>
              <a:rPr lang="en-US" sz="2800" dirty="0" smtClean="0"/>
              <a:t>For example : A set of detailed drawings (and specifications) for the doors, windows, and external utilities of a house. These drawings describe the size and shape of doors and windows, the manner in which they operate, the way in which utility connections (e.g., water, electrical, gas, telephone) come into the house and are distributed among the rooms depicted in the floor plan</a:t>
            </a:r>
            <a:r>
              <a:rPr lang="en-US" dirty="0" smtClean="0"/>
              <a:t>.</a:t>
            </a:r>
            <a:endParaRPr 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dirty="0" smtClean="0"/>
              <a:t>There are 3 important elements of interface design: </a:t>
            </a:r>
          </a:p>
          <a:p>
            <a:r>
              <a:rPr lang="en-US" dirty="0" smtClean="0"/>
              <a:t>1) The user interface(UI); </a:t>
            </a:r>
          </a:p>
          <a:p>
            <a:r>
              <a:rPr lang="en-US" dirty="0" smtClean="0"/>
              <a:t>2) External interfaces to other systems, devices, networks, or other produces or consumers of information; and </a:t>
            </a:r>
          </a:p>
          <a:p>
            <a:r>
              <a:rPr lang="en-US" dirty="0" smtClean="0"/>
              <a:t>3) Internal interfaces between various design components. </a:t>
            </a:r>
          </a:p>
          <a:p>
            <a:endParaRPr lang="en-US" dirty="0" smtClean="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These interface design elements allow the software to communicated externally and enable internal communication and collaboration among the components that populate the software architecture. </a:t>
            </a:r>
            <a:endParaRPr 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77500" lnSpcReduction="20000"/>
          </a:bodyPr>
          <a:lstStyle/>
          <a:p>
            <a:r>
              <a:rPr lang="en-US" dirty="0" smtClean="0"/>
              <a:t>UI design is a major software engineering action. </a:t>
            </a:r>
          </a:p>
          <a:p>
            <a:r>
              <a:rPr lang="en-US" dirty="0" smtClean="0"/>
              <a:t>The design of a UI incorporates aesthetic elements (e.g., layout, color, graphics, interaction mechanisms), ergonomic elements (e.g., information layout and placement, metaphors, UI navigation), and technical elements (e.g., UI patterns, reusable components). In general, the UI is a unique subsystem within the overall application architecture. </a:t>
            </a:r>
          </a:p>
          <a:p>
            <a:r>
              <a:rPr lang="en-US" dirty="0" smtClean="0"/>
              <a:t>The design of external interfaces requires definitive information about the entity to which information is sent or received. The design of external interfaces should incorporate error checking and appropriated security features </a:t>
            </a:r>
            <a:endParaRPr lang="en-US"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UML defines an </a:t>
            </a:r>
            <a:r>
              <a:rPr lang="en-US" i="1" dirty="0" smtClean="0"/>
              <a:t>interface in the following manner:”an interface is a </a:t>
            </a:r>
            <a:r>
              <a:rPr lang="en-US" i="1" dirty="0" err="1" smtClean="0"/>
              <a:t>specifier</a:t>
            </a:r>
            <a:r>
              <a:rPr lang="en-US" i="1" dirty="0" smtClean="0"/>
              <a:t> for the externally- visible operations of a class, component, or other classifier without specification of internal structure </a:t>
            </a:r>
            <a:endParaRPr lang="en-US"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Component- level design elements </a:t>
            </a:r>
            <a:endParaRPr lang="en-US" dirty="0"/>
          </a:p>
        </p:txBody>
      </p:sp>
      <p:sp>
        <p:nvSpPr>
          <p:cNvPr id="3" name="Content Placeholder 2"/>
          <p:cNvSpPr>
            <a:spLocks noGrp="1"/>
          </p:cNvSpPr>
          <p:nvPr>
            <p:ph idx="1"/>
          </p:nvPr>
        </p:nvSpPr>
        <p:spPr/>
        <p:txBody>
          <a:bodyPr>
            <a:normAutofit fontScale="85000" lnSpcReduction="10000"/>
          </a:bodyPr>
          <a:lstStyle/>
          <a:p>
            <a:r>
              <a:rPr lang="en-US" dirty="0" smtClean="0"/>
              <a:t>The component level design for software is similar to the set of detailed specification of each room in a house.</a:t>
            </a:r>
          </a:p>
          <a:p>
            <a:r>
              <a:rPr lang="en-US" dirty="0" smtClean="0"/>
              <a:t>The component level design for the software completely describes the internal details of the each software component.</a:t>
            </a:r>
          </a:p>
          <a:p>
            <a:r>
              <a:rPr lang="en-US" dirty="0" smtClean="0"/>
              <a:t>The processing of data structure occurs in a component and an interface which allows all the component operations.</a:t>
            </a:r>
          </a:p>
          <a:p>
            <a:r>
              <a:rPr lang="en-US" dirty="0" smtClean="0"/>
              <a:t>In a context of object-oriented software engineering, a component shown in a UML diagram..</a:t>
            </a:r>
          </a:p>
          <a:p>
            <a:endParaRPr lang="en-US"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The UML diagram is used to represent the processing logic</a:t>
            </a:r>
            <a:endParaRPr lang="en-US" dirty="0"/>
          </a:p>
        </p:txBody>
      </p:sp>
      <p:pic>
        <p:nvPicPr>
          <p:cNvPr id="2050" name="Picture 2" descr="C:\Users\GANESH\Desktop\componet-level-digram.jpg"/>
          <p:cNvPicPr>
            <a:picLocks noGrp="1" noChangeAspect="1" noChangeArrowheads="1"/>
          </p:cNvPicPr>
          <p:nvPr>
            <p:ph idx="1"/>
          </p:nvPr>
        </p:nvPicPr>
        <p:blipFill>
          <a:blip r:embed="rId2"/>
          <a:srcRect/>
          <a:stretch>
            <a:fillRect/>
          </a:stretch>
        </p:blipFill>
        <p:spPr bwMode="auto">
          <a:xfrm>
            <a:off x="1447801" y="1752600"/>
            <a:ext cx="4995862" cy="3886199"/>
          </a:xfrm>
          <a:prstGeom prst="rect">
            <a:avLst/>
          </a:prstGeom>
          <a:noFill/>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Deployment level design elements</a:t>
            </a:r>
            <a:endParaRPr lang="en-US" dirty="0"/>
          </a:p>
        </p:txBody>
      </p:sp>
      <p:sp>
        <p:nvSpPr>
          <p:cNvPr id="3" name="Content Placeholder 2"/>
          <p:cNvSpPr>
            <a:spLocks noGrp="1"/>
          </p:cNvSpPr>
          <p:nvPr>
            <p:ph idx="1"/>
          </p:nvPr>
        </p:nvSpPr>
        <p:spPr/>
        <p:txBody>
          <a:bodyPr/>
          <a:lstStyle/>
          <a:p>
            <a:r>
              <a:rPr lang="en-US" dirty="0" smtClean="0"/>
              <a:t>The deployment level design element shows the software functionality and subsystem that allocated in the physical computing environment which support the software.</a:t>
            </a:r>
          </a:p>
          <a:p>
            <a:r>
              <a:rPr lang="en-US" dirty="0" smtClean="0"/>
              <a:t>Following figure shows  three computing environment as shown. These are the personal computer, the CPI server and the Control panel.</a:t>
            </a:r>
          </a:p>
          <a:p>
            <a:endParaRPr lang="en-US"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3074" name="Picture 2" descr="C:\Users\GANESH\Desktop\deployment-diagram.jpg"/>
          <p:cNvPicPr>
            <a:picLocks noGrp="1" noChangeAspect="1" noChangeArrowheads="1"/>
          </p:cNvPicPr>
          <p:nvPr>
            <p:ph idx="1"/>
          </p:nvPr>
        </p:nvPicPr>
        <p:blipFill>
          <a:blip r:embed="rId2"/>
          <a:srcRect/>
          <a:stretch>
            <a:fillRect/>
          </a:stretch>
        </p:blipFill>
        <p:spPr bwMode="auto">
          <a:xfrm>
            <a:off x="381000" y="1676400"/>
            <a:ext cx="8153399" cy="3934619"/>
          </a:xfrm>
          <a:prstGeom prst="rect">
            <a:avLst/>
          </a:prstGeom>
          <a:noFill/>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Creating an architecture</a:t>
            </a:r>
            <a:endParaRPr lang="en-US" dirty="0"/>
          </a:p>
        </p:txBody>
      </p:sp>
      <p:sp>
        <p:nvSpPr>
          <p:cNvPr id="3" name="Content Placeholder 2"/>
          <p:cNvSpPr>
            <a:spLocks noGrp="1"/>
          </p:cNvSpPr>
          <p:nvPr>
            <p:ph idx="1"/>
          </p:nvPr>
        </p:nvSpPr>
        <p:spPr/>
        <p:txBody>
          <a:bodyPr/>
          <a:lstStyle/>
          <a:p>
            <a:r>
              <a:rPr lang="en-US" dirty="0" smtClean="0"/>
              <a:t>Software architecture</a:t>
            </a:r>
          </a:p>
          <a:p>
            <a:r>
              <a:rPr lang="en-US" dirty="0" smtClean="0"/>
              <a:t>Data design</a:t>
            </a:r>
          </a:p>
          <a:p>
            <a:r>
              <a:rPr lang="en-US" dirty="0" smtClean="0"/>
              <a:t>Architectural styles and Patterns</a:t>
            </a:r>
          </a:p>
          <a:p>
            <a:r>
              <a:rPr lang="en-US" dirty="0" smtClean="0"/>
              <a:t>Architectural design</a:t>
            </a:r>
          </a:p>
          <a:p>
            <a:r>
              <a:rPr lang="en-US" dirty="0" err="1" smtClean="0"/>
              <a:t>Conceputal</a:t>
            </a:r>
            <a:r>
              <a:rPr lang="en-US" dirty="0" smtClean="0"/>
              <a:t>  model of </a:t>
            </a:r>
            <a:r>
              <a:rPr lang="en-US" dirty="0" err="1" smtClean="0"/>
              <a:t>uml</a:t>
            </a:r>
            <a:endParaRPr lang="en-US" dirty="0" smtClean="0"/>
          </a:p>
          <a:p>
            <a:r>
              <a:rPr lang="en-US" dirty="0" smtClean="0"/>
              <a:t>Basic structural modeling</a:t>
            </a:r>
          </a:p>
          <a:p>
            <a:endParaRPr lang="en-US" dirty="0" smtClean="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a:bodyPr>
          <a:lstStyle/>
          <a:p>
            <a:pPr lvl="0"/>
            <a:r>
              <a:rPr lang="en-US" b="1" dirty="0" smtClean="0"/>
              <a:t>What is Architecture?</a:t>
            </a:r>
            <a:endParaRPr lang="en-US" sz="2800" dirty="0" smtClean="0"/>
          </a:p>
          <a:p>
            <a:r>
              <a:rPr lang="en-US" dirty="0" smtClean="0"/>
              <a:t>Architectural design represents the structure of data and program components that are required to build a computer-based system. It considers</a:t>
            </a:r>
          </a:p>
          <a:p>
            <a:pPr lvl="1"/>
            <a:r>
              <a:rPr lang="en-US" dirty="0" smtClean="0"/>
              <a:t>the architectural style that the system will take,</a:t>
            </a:r>
            <a:endParaRPr lang="en-US" sz="2400" dirty="0" smtClean="0"/>
          </a:p>
          <a:p>
            <a:pPr lvl="1"/>
            <a:r>
              <a:rPr lang="en-US" dirty="0" smtClean="0"/>
              <a:t>the structure and properties of the components that constitute the system, and</a:t>
            </a:r>
            <a:endParaRPr lang="en-US" sz="2400" dirty="0" smtClean="0"/>
          </a:p>
          <a:p>
            <a:pPr lvl="1"/>
            <a:r>
              <a:rPr lang="en-US" dirty="0" smtClean="0"/>
              <a:t>the interrelationships that occur among all architectural components of a system.</a:t>
            </a:r>
            <a:endParaRPr lang="en-US" sz="2400" dirty="0" smtClean="0"/>
          </a:p>
          <a:p>
            <a:endParaRPr lang="en-US"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lnSpcReduction="10000"/>
          </a:bodyPr>
          <a:lstStyle/>
          <a:p>
            <a:r>
              <a:rPr lang="en-US" dirty="0" smtClean="0"/>
              <a:t>The architecture is a representation that enables a software engineer to</a:t>
            </a:r>
          </a:p>
          <a:p>
            <a:pPr lvl="0"/>
            <a:r>
              <a:rPr lang="en-US" dirty="0" smtClean="0"/>
              <a:t>analyze the effectiveness of the design in meeting its stated requirements,</a:t>
            </a:r>
          </a:p>
          <a:p>
            <a:pPr lvl="0"/>
            <a:r>
              <a:rPr lang="en-US" dirty="0" smtClean="0"/>
              <a:t>consider architectural alternatives at a stage when making design changes is still relatively easy,</a:t>
            </a:r>
          </a:p>
          <a:p>
            <a:r>
              <a:rPr lang="en-US" dirty="0" smtClean="0"/>
              <a:t>reducing the risks associated with the construction of the software</a:t>
            </a:r>
            <a:endParaRPr lang="en-US"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10000"/>
          </a:bodyPr>
          <a:lstStyle/>
          <a:p>
            <a:r>
              <a:rPr lang="en-US" dirty="0" smtClean="0"/>
              <a:t>The design of software architecture considers two levels of the design pyramid</a:t>
            </a:r>
          </a:p>
          <a:p>
            <a:pPr lvl="0"/>
            <a:r>
              <a:rPr lang="en-US" dirty="0" smtClean="0"/>
              <a:t>data design</a:t>
            </a:r>
          </a:p>
          <a:p>
            <a:pPr lvl="0"/>
            <a:r>
              <a:rPr lang="en-US" dirty="0" smtClean="0"/>
              <a:t>architectural design.</a:t>
            </a:r>
          </a:p>
          <a:p>
            <a:pPr lvl="0"/>
            <a:r>
              <a:rPr lang="en-US" dirty="0" smtClean="0"/>
              <a:t>Data design enables us to represent the data component of the architecture.</a:t>
            </a:r>
          </a:p>
          <a:p>
            <a:pPr lvl="0"/>
            <a:r>
              <a:rPr lang="en-US" dirty="0" smtClean="0"/>
              <a:t>Architectural design focuses on the representation of the structure of software components, their properties, and interactions.</a:t>
            </a:r>
          </a:p>
          <a:p>
            <a:endParaRPr lang="en-US"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Why is Architecture Important?</a:t>
            </a:r>
            <a:br>
              <a:rPr lang="en-US" b="1" dirty="0" smtClean="0"/>
            </a:br>
            <a:endParaRPr lang="en-US" dirty="0"/>
          </a:p>
        </p:txBody>
      </p:sp>
      <p:sp>
        <p:nvSpPr>
          <p:cNvPr id="3" name="Content Placeholder 2"/>
          <p:cNvSpPr>
            <a:spLocks noGrp="1"/>
          </p:cNvSpPr>
          <p:nvPr>
            <p:ph idx="1"/>
          </p:nvPr>
        </p:nvSpPr>
        <p:spPr/>
        <p:txBody>
          <a:bodyPr>
            <a:normAutofit fontScale="85000" lnSpcReduction="20000"/>
          </a:bodyPr>
          <a:lstStyle/>
          <a:p>
            <a:pPr lvl="0"/>
            <a:r>
              <a:rPr lang="en-US" dirty="0" smtClean="0"/>
              <a:t>Representations of software architecture are an enabler for communication between </a:t>
            </a:r>
            <a:r>
              <a:rPr lang="en-US" dirty="0" err="1" smtClean="0"/>
              <a:t>allparties</a:t>
            </a:r>
            <a:r>
              <a:rPr lang="en-US" dirty="0" smtClean="0"/>
              <a:t> (stakeholders) interested in the development of a computer-based system.</a:t>
            </a:r>
          </a:p>
          <a:p>
            <a:pPr lvl="0"/>
            <a:r>
              <a:rPr lang="en-US" dirty="0" smtClean="0"/>
              <a:t>The architecture highlights early design decisions that will have a profound impact on all software engineering work that follows and, as important, on the ultimate success of the system as an operational entity.</a:t>
            </a:r>
          </a:p>
          <a:p>
            <a:r>
              <a:rPr lang="en-US" dirty="0" smtClean="0"/>
              <a:t>Architecture “constitutes a relatively small, intellectually graspable model of how </a:t>
            </a:r>
            <a:r>
              <a:rPr lang="en-US" dirty="0" err="1" smtClean="0"/>
              <a:t>thesystem</a:t>
            </a:r>
            <a:r>
              <a:rPr lang="en-US" dirty="0" smtClean="0"/>
              <a:t> is structured and how its components work together”</a:t>
            </a:r>
          </a:p>
          <a:p>
            <a:pPr lvl="0"/>
            <a:endParaRPr lang="en-US" dirty="0" smtClean="0"/>
          </a:p>
          <a:p>
            <a:endParaRPr lang="en-US"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lvl="0"/>
            <a:r>
              <a:rPr lang="en-US" b="1" dirty="0" smtClean="0"/>
              <a:t>Data Design:</a:t>
            </a:r>
            <a:br>
              <a:rPr lang="en-US" b="1" dirty="0" smtClean="0"/>
            </a:br>
            <a:endParaRPr lang="en-US" dirty="0"/>
          </a:p>
        </p:txBody>
      </p:sp>
      <p:sp>
        <p:nvSpPr>
          <p:cNvPr id="3" name="Content Placeholder 2"/>
          <p:cNvSpPr>
            <a:spLocks noGrp="1"/>
          </p:cNvSpPr>
          <p:nvPr>
            <p:ph idx="1"/>
          </p:nvPr>
        </p:nvSpPr>
        <p:spPr/>
        <p:txBody>
          <a:bodyPr>
            <a:normAutofit fontScale="85000" lnSpcReduction="20000"/>
          </a:bodyPr>
          <a:lstStyle/>
          <a:p>
            <a:r>
              <a:rPr lang="en-US" dirty="0" smtClean="0"/>
              <a:t>The data design activity translates data objects as part of the analysis model into data structures at the software component level and, when necessary, a database architecture at the application level.</a:t>
            </a:r>
          </a:p>
          <a:p>
            <a:pPr lvl="0"/>
            <a:r>
              <a:rPr lang="en-US" dirty="0" smtClean="0"/>
              <a:t>At the program component level, the design of data structures and the associated algorithms required to manipulate them is essential to the creation of high-quality applications.</a:t>
            </a:r>
          </a:p>
          <a:p>
            <a:pPr lvl="0"/>
            <a:r>
              <a:rPr lang="en-US" dirty="0" smtClean="0"/>
              <a:t>At the application level, the translation of a data model (derived as part of requirements engineering) into a database is pivotal to achieving the business objectives of a system.</a:t>
            </a:r>
          </a:p>
          <a:p>
            <a:endParaRPr lang="en-US"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lvl="0"/>
            <a:r>
              <a:rPr lang="en-US" dirty="0" smtClean="0"/>
              <a:t>At the business level, the collection of information stored in disparate databases and reorganized into a “data warehouse” enables data mining or knowledge discovery that can have an impact on the success of the business itself.</a:t>
            </a:r>
          </a:p>
          <a:p>
            <a:endParaRPr lang="en-US"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Data design at the Architectural Level</a:t>
            </a:r>
            <a:r>
              <a:rPr lang="en-US" dirty="0" smtClean="0"/>
              <a:t>:</a:t>
            </a:r>
            <a:br>
              <a:rPr lang="en-US" dirty="0" smtClean="0"/>
            </a:br>
            <a:endParaRPr lang="en-US" dirty="0"/>
          </a:p>
        </p:txBody>
      </p:sp>
      <p:sp>
        <p:nvSpPr>
          <p:cNvPr id="3" name="Content Placeholder 2"/>
          <p:cNvSpPr>
            <a:spLocks noGrp="1"/>
          </p:cNvSpPr>
          <p:nvPr>
            <p:ph idx="1"/>
          </p:nvPr>
        </p:nvSpPr>
        <p:spPr/>
        <p:txBody>
          <a:bodyPr>
            <a:normAutofit fontScale="92500" lnSpcReduction="20000"/>
          </a:bodyPr>
          <a:lstStyle/>
          <a:p>
            <a:r>
              <a:rPr lang="en-US" dirty="0" smtClean="0"/>
              <a:t>The challenge for a business has been to extract useful information from this data environment, particularly when the information desired is cross functional.</a:t>
            </a:r>
          </a:p>
          <a:p>
            <a:r>
              <a:rPr lang="en-US" dirty="0" smtClean="0"/>
              <a:t>To solve this challenge, the business IT community has developed </a:t>
            </a:r>
            <a:r>
              <a:rPr lang="en-US" b="1" i="1" dirty="0" smtClean="0"/>
              <a:t>data mining </a:t>
            </a:r>
            <a:r>
              <a:rPr lang="en-US" dirty="0" smtClean="0"/>
              <a:t>techniques, also called </a:t>
            </a:r>
            <a:r>
              <a:rPr lang="en-US" b="1" i="1" dirty="0" smtClean="0"/>
              <a:t>knowledge discovery in databases </a:t>
            </a:r>
            <a:r>
              <a:rPr lang="en-US" dirty="0" smtClean="0"/>
              <a:t>(KDD), that navigate through existing databases in an attempt to extract appropriate business-level information. </a:t>
            </a:r>
          </a:p>
          <a:p>
            <a:r>
              <a:rPr lang="en-US" dirty="0" smtClean="0"/>
              <a:t>.</a:t>
            </a:r>
          </a:p>
          <a:p>
            <a:endParaRPr lang="en-US"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An alternative solution, called a </a:t>
            </a:r>
            <a:r>
              <a:rPr lang="en-US" b="1" i="1" dirty="0" smtClean="0"/>
              <a:t>data warehouse</a:t>
            </a:r>
            <a:r>
              <a:rPr lang="en-US" i="1" dirty="0" smtClean="0"/>
              <a:t>, </a:t>
            </a:r>
            <a:r>
              <a:rPr lang="en-US" dirty="0" smtClean="0"/>
              <a:t>adds an additional layer to the data architecture. a data warehouse is a large, independent database that encompasses some, but not all, of the data that are stored in databases that serve the set of applications required by a business</a:t>
            </a:r>
            <a:endParaRPr lang="en-US" dirty="0"/>
          </a:p>
        </p:txBody>
      </p:sp>
      <p:sp>
        <p:nvSpPr>
          <p:cNvPr id="1025" name="Rectangle 1"/>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520536" tIns="0" rIns="0" bIns="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200" b="1" i="0" u="none" strike="noStrike" cap="none" normalizeH="0" baseline="0" smtClean="0">
                <a:ln>
                  <a:noFill/>
                </a:ln>
                <a:solidFill>
                  <a:schemeClr val="tx1"/>
                </a:solidFill>
                <a:effectLst/>
                <a:latin typeface="Arial" pitchFamily="34" charset="0"/>
                <a:ea typeface="Times New Roman" pitchFamily="18" charset="0"/>
                <a:cs typeface="Arial" pitchFamily="34" charset="0"/>
              </a:rPr>
              <a:t>Data design at the Component Level</a:t>
            </a:r>
            <a:r>
              <a:rPr kumimoji="0" lang="en-US" sz="1200" b="0" i="0" u="none" strike="noStrike" cap="none" normalizeH="0" baseline="0" smtClean="0">
                <a:ln>
                  <a:noFill/>
                </a:ln>
                <a:solidFill>
                  <a:schemeClr val="tx1"/>
                </a:solidFill>
                <a:effectLst/>
                <a:latin typeface="Arial" pitchFamily="34" charset="0"/>
                <a:ea typeface="Times New Roman" pitchFamily="18" charset="0"/>
                <a:cs typeface="Arial" pitchFamily="34" charset="0"/>
              </a:rPr>
              <a:t>:</a:t>
            </a:r>
            <a:endParaRPr kumimoji="0" lang="en-US" sz="1200" b="1" i="0" u="none" strike="noStrike" cap="none" normalizeH="0" baseline="0" smtClean="0">
              <a:ln>
                <a:noFill/>
              </a:ln>
              <a:solidFill>
                <a:schemeClr val="tx1"/>
              </a:solidFill>
              <a:effectLst/>
              <a:latin typeface="Arial" pitchFamily="34" charset="0"/>
              <a:ea typeface="Times New Roman" pitchFamily="18"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Data design at the Component Level</a:t>
            </a:r>
            <a:r>
              <a:rPr lang="en-US" dirty="0" smtClean="0"/>
              <a:t>:</a:t>
            </a:r>
            <a:r>
              <a:rPr lang="en-US" b="1" dirty="0" smtClean="0"/>
              <a:t/>
            </a:r>
            <a:br>
              <a:rPr lang="en-US" b="1" dirty="0" smtClean="0"/>
            </a:br>
            <a:endParaRPr lang="en-US" dirty="0"/>
          </a:p>
        </p:txBody>
      </p:sp>
      <p:sp>
        <p:nvSpPr>
          <p:cNvPr id="3" name="Content Placeholder 2"/>
          <p:cNvSpPr>
            <a:spLocks noGrp="1"/>
          </p:cNvSpPr>
          <p:nvPr>
            <p:ph idx="1"/>
          </p:nvPr>
        </p:nvSpPr>
        <p:spPr/>
        <p:txBody>
          <a:bodyPr>
            <a:normAutofit fontScale="77500" lnSpcReduction="20000"/>
          </a:bodyPr>
          <a:lstStyle/>
          <a:p>
            <a:r>
              <a:rPr lang="en-US" sz="3600" dirty="0" smtClean="0"/>
              <a:t>Data design at the component level focuses on the representation of data structures that are directly accessed by one or more software components. The following set of principles for data </a:t>
            </a:r>
            <a:r>
              <a:rPr lang="en-US" sz="3600" dirty="0" err="1" smtClean="0"/>
              <a:t>speciﬁcation</a:t>
            </a:r>
            <a:r>
              <a:rPr lang="en-US" sz="3600" dirty="0" smtClean="0"/>
              <a:t>:</a:t>
            </a:r>
          </a:p>
          <a:p>
            <a:pPr lvl="0"/>
            <a:r>
              <a:rPr lang="en-US" dirty="0" smtClean="0"/>
              <a:t>The systematic analysis principles applied to function and behavior should also be applied </a:t>
            </a:r>
            <a:r>
              <a:rPr lang="en-US" dirty="0" err="1" smtClean="0"/>
              <a:t>todata</a:t>
            </a:r>
            <a:r>
              <a:rPr lang="en-US" dirty="0" smtClean="0"/>
              <a:t>.</a:t>
            </a:r>
          </a:p>
          <a:p>
            <a:pPr lvl="0"/>
            <a:r>
              <a:rPr lang="en-US" dirty="0" smtClean="0"/>
              <a:t>All data structures and the operations to be performed on each should be </a:t>
            </a:r>
            <a:r>
              <a:rPr lang="en-US" dirty="0" err="1" smtClean="0"/>
              <a:t>identiﬁed</a:t>
            </a:r>
            <a:r>
              <a:rPr lang="en-US" dirty="0" smtClean="0"/>
              <a:t>.</a:t>
            </a:r>
          </a:p>
          <a:p>
            <a:pPr lvl="0"/>
            <a:r>
              <a:rPr lang="en-US" dirty="0" smtClean="0"/>
              <a:t>A data dictionary should be established and used to </a:t>
            </a:r>
            <a:r>
              <a:rPr lang="en-US" dirty="0" err="1" smtClean="0"/>
              <a:t>deﬁne</a:t>
            </a:r>
            <a:r>
              <a:rPr lang="en-US" dirty="0" smtClean="0"/>
              <a:t> both data and program design.</a:t>
            </a:r>
          </a:p>
          <a:p>
            <a:pPr lvl="0"/>
            <a:r>
              <a:rPr lang="en-US" dirty="0" smtClean="0"/>
              <a:t>Low-level data design decisions should be deferred until late in the </a:t>
            </a:r>
            <a:r>
              <a:rPr lang="en-US" dirty="0" err="1" smtClean="0"/>
              <a:t>designprocess</a:t>
            </a:r>
            <a:r>
              <a:rPr lang="en-US" dirty="0" smtClean="0"/>
              <a:t>.</a:t>
            </a:r>
          </a:p>
          <a:p>
            <a:endParaRPr lang="en-US"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10000"/>
          </a:bodyPr>
          <a:lstStyle/>
          <a:p>
            <a:pPr lvl="0"/>
            <a:r>
              <a:rPr lang="en-US" dirty="0" smtClean="0"/>
              <a:t>The representation of data structure should be known only to those modules that must make direct use of the data contained within the structure.</a:t>
            </a:r>
          </a:p>
          <a:p>
            <a:pPr lvl="0"/>
            <a:r>
              <a:rPr lang="en-US" dirty="0" smtClean="0"/>
              <a:t>A library of useful data structures and the operations that may be applied to them should be developed.</a:t>
            </a:r>
          </a:p>
          <a:p>
            <a:pPr lvl="0"/>
            <a:r>
              <a:rPr lang="en-US" dirty="0" smtClean="0"/>
              <a:t>A software design and programming language should support the </a:t>
            </a:r>
            <a:r>
              <a:rPr lang="en-US" dirty="0" err="1" smtClean="0"/>
              <a:t>speciﬁcation</a:t>
            </a:r>
            <a:r>
              <a:rPr lang="en-US" dirty="0" smtClean="0"/>
              <a:t> and realization of abstract data types</a:t>
            </a:r>
            <a:r>
              <a:rPr lang="en-US" i="1" dirty="0" smtClean="0"/>
              <a:t>.</a:t>
            </a:r>
            <a:endParaRPr lang="en-US" dirty="0" smtClean="0"/>
          </a:p>
          <a:p>
            <a:endParaRPr lang="en-US"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1" algn="ctr" rtl="0">
              <a:spcBef>
                <a:spcPct val="0"/>
              </a:spcBef>
            </a:pPr>
            <a:r>
              <a:rPr lang="en-US" sz="2400" b="1" dirty="0">
                <a:latin typeface="Arial Black" pitchFamily="34" charset="0"/>
              </a:rPr>
              <a:t>Architectural styles and patterns</a:t>
            </a:r>
            <a:r>
              <a:rPr lang="en-US" sz="2400" b="1" dirty="0"/>
              <a:t>:</a:t>
            </a:r>
            <a:br>
              <a:rPr lang="en-US" sz="2400" b="1" dirty="0"/>
            </a:br>
            <a:endParaRPr lang="en-US" sz="2400" dirty="0"/>
          </a:p>
        </p:txBody>
      </p:sp>
      <p:sp>
        <p:nvSpPr>
          <p:cNvPr id="3" name="Content Placeholder 2"/>
          <p:cNvSpPr>
            <a:spLocks noGrp="1"/>
          </p:cNvSpPr>
          <p:nvPr>
            <p:ph idx="1"/>
          </p:nvPr>
        </p:nvSpPr>
        <p:spPr/>
        <p:txBody>
          <a:bodyPr>
            <a:normAutofit lnSpcReduction="10000"/>
          </a:bodyPr>
          <a:lstStyle/>
          <a:p>
            <a:r>
              <a:rPr lang="en-US" dirty="0" smtClean="0"/>
              <a:t>The builder has used an </a:t>
            </a:r>
            <a:r>
              <a:rPr lang="en-US" b="1" i="1" dirty="0" smtClean="0"/>
              <a:t>architectural style </a:t>
            </a:r>
            <a:r>
              <a:rPr lang="en-US" dirty="0" smtClean="0"/>
              <a:t>as a descriptive mechanism to differentiate the house from other styles (e.g., A-frame, raised ranch, Cape Cod).</a:t>
            </a:r>
          </a:p>
          <a:p>
            <a:r>
              <a:rPr lang="en-US" dirty="0" smtClean="0"/>
              <a:t>The software that is built for computer-based systems also exhibits one of many architectural styles.</a:t>
            </a:r>
          </a:p>
          <a:p>
            <a:pPr>
              <a:buNone/>
            </a:pPr>
            <a:r>
              <a:rPr lang="en-US" dirty="0" smtClean="0"/>
              <a:t/>
            </a:r>
            <a:br>
              <a:rPr lang="en-US" dirty="0" smtClean="0"/>
            </a:br>
            <a:endParaRPr lang="en-US" dirty="0" smtClean="0"/>
          </a:p>
          <a:p>
            <a:endParaRPr lang="en-US"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85000" lnSpcReduction="10000"/>
          </a:bodyPr>
          <a:lstStyle/>
          <a:p>
            <a:r>
              <a:rPr lang="en-US" dirty="0" smtClean="0"/>
              <a:t>Each style describes a system category that encompasses</a:t>
            </a:r>
          </a:p>
          <a:p>
            <a:pPr lvl="0"/>
            <a:r>
              <a:rPr lang="en-US" dirty="0" smtClean="0"/>
              <a:t>A set of </a:t>
            </a:r>
            <a:r>
              <a:rPr lang="en-US" b="1" i="1" dirty="0" smtClean="0"/>
              <a:t>components </a:t>
            </a:r>
            <a:r>
              <a:rPr lang="en-US" dirty="0" smtClean="0"/>
              <a:t>(e.g., a database, computational modules) that perform a function required by a system;</a:t>
            </a:r>
          </a:p>
          <a:p>
            <a:pPr lvl="0"/>
            <a:r>
              <a:rPr lang="en-US" dirty="0" smtClean="0"/>
              <a:t>A set of </a:t>
            </a:r>
            <a:r>
              <a:rPr lang="en-US" b="1" i="1" dirty="0" smtClean="0"/>
              <a:t>connectors </a:t>
            </a:r>
            <a:r>
              <a:rPr lang="en-US" dirty="0" smtClean="0"/>
              <a:t>that enable “communication, </a:t>
            </a:r>
            <a:r>
              <a:rPr lang="en-US" dirty="0" err="1" smtClean="0"/>
              <a:t>coordinations</a:t>
            </a:r>
            <a:r>
              <a:rPr lang="en-US" dirty="0" smtClean="0"/>
              <a:t> and cooperation” among components;</a:t>
            </a:r>
          </a:p>
          <a:p>
            <a:pPr lvl="0"/>
            <a:r>
              <a:rPr lang="en-US" b="1" i="1" dirty="0" smtClean="0"/>
              <a:t>Constraints </a:t>
            </a:r>
            <a:r>
              <a:rPr lang="en-US" dirty="0" smtClean="0"/>
              <a:t>that </a:t>
            </a:r>
            <a:r>
              <a:rPr lang="en-US" dirty="0" err="1" smtClean="0"/>
              <a:t>deﬁne</a:t>
            </a:r>
            <a:r>
              <a:rPr lang="en-US" dirty="0" smtClean="0"/>
              <a:t> how components can be integrated to form the system; and</a:t>
            </a:r>
          </a:p>
          <a:p>
            <a:pPr lvl="0"/>
            <a:r>
              <a:rPr lang="en-US" b="1" i="1" dirty="0" smtClean="0"/>
              <a:t>Semantic models </a:t>
            </a:r>
            <a:r>
              <a:rPr lang="en-US" dirty="0" smtClean="0"/>
              <a:t>that enable a designer to understand the overall properties of a system by analyzing the known properties of its constituent parts.</a:t>
            </a:r>
          </a:p>
          <a:p>
            <a:endParaRPr lang="en-US"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77500" lnSpcReduction="20000"/>
          </a:bodyPr>
          <a:lstStyle/>
          <a:p>
            <a:r>
              <a:rPr lang="en-US" dirty="0" smtClean="0"/>
              <a:t>An </a:t>
            </a:r>
            <a:r>
              <a:rPr lang="en-US" b="1" i="1" dirty="0" smtClean="0"/>
              <a:t>architectural pattern, </a:t>
            </a:r>
            <a:r>
              <a:rPr lang="en-US" dirty="0" smtClean="0"/>
              <a:t>like an architectural style, imposes a transformation the design of architecture. However, a pattern differs from a style in a number of fundamental ways:</a:t>
            </a:r>
          </a:p>
          <a:p>
            <a:pPr lvl="0"/>
            <a:r>
              <a:rPr lang="en-US" dirty="0" smtClean="0"/>
              <a:t>The scope of a pattern is less broad, focusing on one aspect of the architecture rather </a:t>
            </a:r>
            <a:r>
              <a:rPr lang="en-US" dirty="0" err="1" smtClean="0"/>
              <a:t>thanthe</a:t>
            </a:r>
            <a:r>
              <a:rPr lang="en-US" dirty="0" smtClean="0"/>
              <a:t> architecture in its entirety.</a:t>
            </a:r>
          </a:p>
          <a:p>
            <a:pPr lvl="0"/>
            <a:r>
              <a:rPr lang="en-US" dirty="0" smtClean="0"/>
              <a:t>A pattern imposes a rule on the architecture, describing how the software will handle </a:t>
            </a:r>
            <a:r>
              <a:rPr lang="en-US" dirty="0" err="1" smtClean="0"/>
              <a:t>someaspect</a:t>
            </a:r>
            <a:r>
              <a:rPr lang="en-US" dirty="0" smtClean="0"/>
              <a:t> of its functionality at the infrastructure level.</a:t>
            </a:r>
          </a:p>
          <a:p>
            <a:r>
              <a:rPr lang="en-US" dirty="0" smtClean="0"/>
              <a:t>Architectural patterns tend to address specific behavioral issues within the context of the architectural</a:t>
            </a:r>
            <a:endParaRPr lang="en-US"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Conceptual model of </a:t>
            </a:r>
            <a:r>
              <a:rPr lang="en-US" dirty="0" err="1" smtClean="0"/>
              <a:t>uml</a:t>
            </a:r>
            <a:endParaRPr lang="en-US" dirty="0"/>
          </a:p>
        </p:txBody>
      </p:sp>
      <p:sp>
        <p:nvSpPr>
          <p:cNvPr id="3" name="Content Placeholder 2"/>
          <p:cNvSpPr>
            <a:spLocks noGrp="1"/>
          </p:cNvSpPr>
          <p:nvPr>
            <p:ph idx="1"/>
          </p:nvPr>
        </p:nvSpPr>
        <p:spPr/>
        <p:txBody>
          <a:bodyPr>
            <a:normAutofit fontScale="92500"/>
          </a:bodyPr>
          <a:lstStyle/>
          <a:p>
            <a:r>
              <a:rPr lang="en-US" dirty="0" smtClean="0"/>
              <a:t>The </a:t>
            </a:r>
            <a:r>
              <a:rPr lang="en-US" dirty="0" smtClean="0">
                <a:hlinkClick r:id="rId2"/>
              </a:rPr>
              <a:t>Unified Modeling Language (UML)</a:t>
            </a:r>
            <a:r>
              <a:rPr lang="en-US" dirty="0" smtClean="0"/>
              <a:t> is a standard visual language for describing and </a:t>
            </a:r>
            <a:r>
              <a:rPr lang="en-US" dirty="0" err="1" smtClean="0"/>
              <a:t>modelling</a:t>
            </a:r>
            <a:r>
              <a:rPr lang="en-US" dirty="0" smtClean="0"/>
              <a:t> software blueprints. </a:t>
            </a:r>
          </a:p>
          <a:p>
            <a:r>
              <a:rPr lang="en-US" dirty="0" smtClean="0"/>
              <a:t>The UML is more than just a graphical language. Stated formally, the UML is for: Visualizing, Specifying, Constructing, and Documenting.</a:t>
            </a:r>
            <a:br>
              <a:rPr lang="en-US" dirty="0" smtClean="0"/>
            </a:br>
            <a:r>
              <a:rPr lang="en-US" dirty="0" smtClean="0"/>
              <a:t>The artifacts of a software-intensive system (particularly systems built using the object-oriented style).</a:t>
            </a:r>
            <a:endParaRPr lang="en-US"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why a conceptual model is required?</a:t>
            </a:r>
            <a:endParaRPr lang="en-US" dirty="0"/>
          </a:p>
        </p:txBody>
      </p:sp>
      <p:sp>
        <p:nvSpPr>
          <p:cNvPr id="3" name="Content Placeholder 2"/>
          <p:cNvSpPr>
            <a:spLocks noGrp="1"/>
          </p:cNvSpPr>
          <p:nvPr>
            <p:ph idx="1"/>
          </p:nvPr>
        </p:nvSpPr>
        <p:spPr/>
        <p:txBody>
          <a:bodyPr/>
          <a:lstStyle/>
          <a:p>
            <a:r>
              <a:rPr lang="en-US" dirty="0" smtClean="0"/>
              <a:t>A conceptual model can be defined as a model which is made of concepts and their relationships.</a:t>
            </a:r>
          </a:p>
          <a:p>
            <a:r>
              <a:rPr lang="en-US" dirty="0" smtClean="0"/>
              <a:t>A conceptual model is the first step before drawing a UML diagram. It helps to understand the entities in the real world and how they interact with each other.</a:t>
            </a:r>
          </a:p>
          <a:p>
            <a:endParaRPr lang="en-US"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sz="2800" dirty="0" smtClean="0"/>
              <a:t>As UML describes the real-time systems, it is very important to make a conceptual model and then proceed gradually. The conceptual model of UML can be mastered by learning the following three major elements −</a:t>
            </a:r>
          </a:p>
          <a:p>
            <a:r>
              <a:rPr lang="en-US" sz="2800" dirty="0" smtClean="0"/>
              <a:t>UML building blocks</a:t>
            </a:r>
          </a:p>
          <a:p>
            <a:r>
              <a:rPr lang="en-US" sz="2800" dirty="0" smtClean="0"/>
              <a:t>Rules to connect the building blocks</a:t>
            </a:r>
          </a:p>
          <a:p>
            <a:r>
              <a:rPr lang="en-US" sz="2800" dirty="0" smtClean="0"/>
              <a:t>Common mechanisms of UML</a:t>
            </a:r>
          </a:p>
          <a:p>
            <a:endParaRPr lang="en-US"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20000"/>
          </a:bodyPr>
          <a:lstStyle/>
          <a:p>
            <a:pPr>
              <a:buNone/>
            </a:pPr>
            <a:r>
              <a:rPr lang="en-US" dirty="0" smtClean="0"/>
              <a:t>The building blocks of UML can be defined as </a:t>
            </a:r>
          </a:p>
          <a:p>
            <a:r>
              <a:rPr lang="en-US" dirty="0" smtClean="0"/>
              <a:t>Things</a:t>
            </a:r>
          </a:p>
          <a:p>
            <a:r>
              <a:rPr lang="en-US" dirty="0" smtClean="0"/>
              <a:t>Relationships</a:t>
            </a:r>
          </a:p>
          <a:p>
            <a:r>
              <a:rPr lang="en-US" dirty="0" smtClean="0"/>
              <a:t>Diagrams</a:t>
            </a:r>
          </a:p>
          <a:p>
            <a:pPr>
              <a:buNone/>
            </a:pPr>
            <a:r>
              <a:rPr lang="en-US" b="1" dirty="0" smtClean="0"/>
              <a:t>Things</a:t>
            </a:r>
            <a:r>
              <a:rPr lang="en-US" dirty="0" smtClean="0"/>
              <a:t> are the most important building blocks of UML. Things can be −</a:t>
            </a:r>
          </a:p>
          <a:p>
            <a:r>
              <a:rPr lang="en-US" dirty="0" smtClean="0"/>
              <a:t>Structural</a:t>
            </a:r>
          </a:p>
          <a:p>
            <a:r>
              <a:rPr lang="en-US" dirty="0" smtClean="0"/>
              <a:t>Behavioral</a:t>
            </a:r>
          </a:p>
          <a:p>
            <a:r>
              <a:rPr lang="en-US" dirty="0" smtClean="0"/>
              <a:t>Grouping</a:t>
            </a:r>
          </a:p>
          <a:p>
            <a:r>
              <a:rPr lang="en-US" dirty="0" err="1" smtClean="0"/>
              <a:t>Annotational</a:t>
            </a:r>
            <a:endParaRPr lang="en-US" dirty="0" smtClean="0"/>
          </a:p>
          <a:p>
            <a:endParaRPr lang="en-US" dirty="0" smtClean="0"/>
          </a:p>
          <a:p>
            <a:endParaRPr lang="en-US"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Structural Things</a:t>
            </a:r>
          </a:p>
          <a:p>
            <a:r>
              <a:rPr lang="en-US" b="1" dirty="0" smtClean="0"/>
              <a:t>Structural things</a:t>
            </a:r>
            <a:r>
              <a:rPr lang="en-US" dirty="0" smtClean="0"/>
              <a:t> define the static part of the model. They represent the physical and conceptual elements. Following are the brief descriptions of the structural things.</a:t>
            </a:r>
          </a:p>
          <a:p>
            <a:endParaRPr lang="en-US" dirty="0" smtClean="0"/>
          </a:p>
          <a:p>
            <a:endParaRPr lang="en-US"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5" name="Content Placeholder 4"/>
          <p:cNvSpPr>
            <a:spLocks noGrp="1"/>
          </p:cNvSpPr>
          <p:nvPr>
            <p:ph idx="1"/>
          </p:nvPr>
        </p:nvSpPr>
        <p:spPr>
          <a:xfrm>
            <a:off x="457200" y="1600200"/>
            <a:ext cx="8229600" cy="4876800"/>
          </a:xfrm>
        </p:spPr>
        <p:txBody>
          <a:bodyPr/>
          <a:lstStyle/>
          <a:p>
            <a:r>
              <a:rPr lang="en-US" b="1" dirty="0" smtClean="0"/>
              <a:t>Class −</a:t>
            </a:r>
            <a:r>
              <a:rPr lang="en-US" dirty="0" smtClean="0"/>
              <a:t> Class represents a set of objects having similar responsibilities.</a:t>
            </a:r>
          </a:p>
          <a:p>
            <a:endParaRPr lang="en-US" dirty="0" smtClean="0"/>
          </a:p>
          <a:p>
            <a:r>
              <a:rPr lang="en-US" b="1" dirty="0" smtClean="0"/>
              <a:t>Interface −</a:t>
            </a:r>
            <a:r>
              <a:rPr lang="en-US" dirty="0" smtClean="0"/>
              <a:t> Interface defines a set of operations, which specify the responsibility of a class.</a:t>
            </a:r>
          </a:p>
          <a:p>
            <a:endParaRPr lang="en-US" dirty="0" smtClean="0"/>
          </a:p>
          <a:p>
            <a:endParaRPr lang="en-US" dirty="0"/>
          </a:p>
        </p:txBody>
      </p:sp>
      <p:pic>
        <p:nvPicPr>
          <p:cNvPr id="6" name="Picture 2" descr="C:\Users\GANESH\Desktop\uml_class.jpg"/>
          <p:cNvPicPr>
            <a:picLocks noChangeAspect="1" noChangeArrowheads="1"/>
          </p:cNvPicPr>
          <p:nvPr/>
        </p:nvPicPr>
        <p:blipFill>
          <a:blip r:embed="rId2"/>
          <a:srcRect/>
          <a:stretch>
            <a:fillRect/>
          </a:stretch>
        </p:blipFill>
        <p:spPr bwMode="auto">
          <a:xfrm>
            <a:off x="2971800" y="2667000"/>
            <a:ext cx="2514600" cy="600075"/>
          </a:xfrm>
          <a:prstGeom prst="rect">
            <a:avLst/>
          </a:prstGeom>
          <a:noFill/>
        </p:spPr>
      </p:pic>
      <p:pic>
        <p:nvPicPr>
          <p:cNvPr id="11" name="Picture 6" descr="C:\Users\GANESH\Desktop\uml_interface.jpg"/>
          <p:cNvPicPr>
            <a:picLocks noChangeAspect="1" noChangeArrowheads="1"/>
          </p:cNvPicPr>
          <p:nvPr/>
        </p:nvPicPr>
        <p:blipFill>
          <a:blip r:embed="rId3"/>
          <a:srcRect/>
          <a:stretch>
            <a:fillRect/>
          </a:stretch>
        </p:blipFill>
        <p:spPr bwMode="auto">
          <a:xfrm>
            <a:off x="3810000" y="4800600"/>
            <a:ext cx="2057400" cy="476250"/>
          </a:xfrm>
          <a:prstGeom prst="rect">
            <a:avLst/>
          </a:prstGeom>
          <a:noFill/>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b="1" dirty="0" smtClean="0"/>
              <a:t>Use case −</a:t>
            </a:r>
            <a:r>
              <a:rPr lang="en-US" dirty="0" smtClean="0"/>
              <a:t>Use case represents a set of actions performed by a system for a specific goal.</a:t>
            </a:r>
          </a:p>
          <a:p>
            <a:pPr>
              <a:buNone/>
            </a:pPr>
            <a:endParaRPr lang="en-US" dirty="0" smtClean="0"/>
          </a:p>
          <a:p>
            <a:endParaRPr lang="en-US" dirty="0" smtClean="0"/>
          </a:p>
          <a:p>
            <a:r>
              <a:rPr lang="en-US" b="1" dirty="0" smtClean="0"/>
              <a:t>Collaboration −</a:t>
            </a:r>
            <a:r>
              <a:rPr lang="en-US" dirty="0" smtClean="0"/>
              <a:t>Collaboration defines an interaction between elements.</a:t>
            </a:r>
          </a:p>
          <a:p>
            <a:endParaRPr lang="en-US" dirty="0" smtClean="0"/>
          </a:p>
          <a:p>
            <a:endParaRPr lang="en-US" dirty="0"/>
          </a:p>
        </p:txBody>
      </p:sp>
      <p:pic>
        <p:nvPicPr>
          <p:cNvPr id="7" name="Picture 3" descr="C:\Users\GANESH\Desktop\uml_collaboration.jpg"/>
          <p:cNvPicPr>
            <a:picLocks noChangeAspect="1" noChangeArrowheads="1"/>
          </p:cNvPicPr>
          <p:nvPr/>
        </p:nvPicPr>
        <p:blipFill>
          <a:blip r:embed="rId2"/>
          <a:srcRect/>
          <a:stretch>
            <a:fillRect/>
          </a:stretch>
        </p:blipFill>
        <p:spPr bwMode="auto">
          <a:xfrm>
            <a:off x="4114800" y="5181600"/>
            <a:ext cx="714375" cy="438150"/>
          </a:xfrm>
          <a:prstGeom prst="rect">
            <a:avLst/>
          </a:prstGeom>
          <a:noFill/>
        </p:spPr>
      </p:pic>
      <p:pic>
        <p:nvPicPr>
          <p:cNvPr id="10" name="Picture 4" descr="C:\Users\GANESH\Desktop\uml_usecase (1).jpg"/>
          <p:cNvPicPr>
            <a:picLocks noChangeAspect="1" noChangeArrowheads="1"/>
          </p:cNvPicPr>
          <p:nvPr/>
        </p:nvPicPr>
        <p:blipFill>
          <a:blip r:embed="rId3"/>
          <a:srcRect/>
          <a:stretch>
            <a:fillRect/>
          </a:stretch>
        </p:blipFill>
        <p:spPr bwMode="auto">
          <a:xfrm>
            <a:off x="3810000" y="3048000"/>
            <a:ext cx="1676400" cy="400050"/>
          </a:xfrm>
          <a:prstGeom prst="rect">
            <a:avLst/>
          </a:prstGeom>
          <a:noFill/>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b="1" dirty="0" smtClean="0"/>
              <a:t>Component −</a:t>
            </a:r>
            <a:r>
              <a:rPr lang="en-US" dirty="0" smtClean="0"/>
              <a:t>Component describes the physical part of a system.</a:t>
            </a:r>
          </a:p>
          <a:p>
            <a:endParaRPr lang="en-US" dirty="0" smtClean="0"/>
          </a:p>
          <a:p>
            <a:r>
              <a:rPr lang="en-US" b="1" dirty="0" smtClean="0"/>
              <a:t>Node −</a:t>
            </a:r>
            <a:r>
              <a:rPr lang="en-US" dirty="0" smtClean="0"/>
              <a:t> A node can be defined as a physical element that exists at run time.</a:t>
            </a:r>
          </a:p>
          <a:p>
            <a:r>
              <a:rPr lang="en-US" dirty="0" smtClean="0"/>
              <a:t/>
            </a:r>
            <a:br>
              <a:rPr lang="en-US" dirty="0" smtClean="0"/>
            </a:br>
            <a:endParaRPr lang="en-US" dirty="0" smtClean="0"/>
          </a:p>
          <a:p>
            <a:endParaRPr lang="en-US" dirty="0"/>
          </a:p>
        </p:txBody>
      </p:sp>
      <p:pic>
        <p:nvPicPr>
          <p:cNvPr id="6" name="Picture 2" descr="C:\Users\GANESH\Desktop\uml_component.jpg"/>
          <p:cNvPicPr>
            <a:picLocks noChangeAspect="1" noChangeArrowheads="1"/>
          </p:cNvPicPr>
          <p:nvPr/>
        </p:nvPicPr>
        <p:blipFill>
          <a:blip r:embed="rId2"/>
          <a:srcRect/>
          <a:stretch>
            <a:fillRect/>
          </a:stretch>
        </p:blipFill>
        <p:spPr bwMode="auto">
          <a:xfrm>
            <a:off x="3733800" y="2743200"/>
            <a:ext cx="1047750" cy="466725"/>
          </a:xfrm>
          <a:prstGeom prst="rect">
            <a:avLst/>
          </a:prstGeom>
          <a:noFill/>
        </p:spPr>
      </p:pic>
      <p:pic>
        <p:nvPicPr>
          <p:cNvPr id="9" name="Picture 3" descr="C:\Users\GANESH\Desktop\uml_node.jpg"/>
          <p:cNvPicPr>
            <a:picLocks noChangeAspect="1" noChangeArrowheads="1"/>
          </p:cNvPicPr>
          <p:nvPr/>
        </p:nvPicPr>
        <p:blipFill>
          <a:blip r:embed="rId3"/>
          <a:srcRect/>
          <a:stretch>
            <a:fillRect/>
          </a:stretch>
        </p:blipFill>
        <p:spPr bwMode="auto">
          <a:xfrm>
            <a:off x="3886200" y="4572000"/>
            <a:ext cx="828675" cy="828675"/>
          </a:xfrm>
          <a:prstGeom prst="rect">
            <a:avLst/>
          </a:prstGeom>
          <a:noFill/>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a:bodyPr>
          <a:lstStyle/>
          <a:p>
            <a:r>
              <a:rPr lang="en-US" dirty="0" smtClean="0"/>
              <a:t>Behavioral Things</a:t>
            </a:r>
          </a:p>
          <a:p>
            <a:r>
              <a:rPr lang="en-US" b="1" dirty="0" smtClean="0"/>
              <a:t>A behavioral thing</a:t>
            </a:r>
            <a:r>
              <a:rPr lang="en-US" dirty="0" smtClean="0"/>
              <a:t> consists of the dynamic parts of UML models. Following are the behavioral things −</a:t>
            </a:r>
          </a:p>
          <a:p>
            <a:r>
              <a:rPr lang="en-US" b="1" dirty="0" smtClean="0"/>
              <a:t>Interaction −</a:t>
            </a:r>
            <a:r>
              <a:rPr lang="en-US" dirty="0" smtClean="0"/>
              <a:t> Interaction is defined as a behavior that consists of a group of messages exchanged among elements to accomplish a specific task.</a:t>
            </a:r>
          </a:p>
          <a:p>
            <a:pPr>
              <a:buNone/>
            </a:pPr>
            <a:r>
              <a:rPr lang="en-US" dirty="0" smtClean="0"/>
              <a:t/>
            </a:r>
            <a:br>
              <a:rPr lang="en-US" dirty="0" smtClean="0"/>
            </a:br>
            <a:endParaRPr lang="en-US" dirty="0"/>
          </a:p>
        </p:txBody>
      </p:sp>
      <p:pic>
        <p:nvPicPr>
          <p:cNvPr id="6" name="Picture 2" descr="C:\Users\GANESH\Desktop\uml_message.jpg"/>
          <p:cNvPicPr>
            <a:picLocks noChangeAspect="1" noChangeArrowheads="1"/>
          </p:cNvPicPr>
          <p:nvPr/>
        </p:nvPicPr>
        <p:blipFill>
          <a:blip r:embed="rId2"/>
          <a:srcRect/>
          <a:stretch>
            <a:fillRect/>
          </a:stretch>
        </p:blipFill>
        <p:spPr bwMode="auto">
          <a:xfrm>
            <a:off x="3810000" y="5105400"/>
            <a:ext cx="1028700" cy="428625"/>
          </a:xfrm>
          <a:prstGeom prst="rect">
            <a:avLst/>
          </a:prstGeom>
          <a:noFill/>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b="1" dirty="0" smtClean="0"/>
              <a:t>State machine −</a:t>
            </a:r>
            <a:r>
              <a:rPr lang="en-US" dirty="0" smtClean="0"/>
              <a:t> State machine is useful when the state of an object in its life cycle is important. It defines the sequence of states an object goes through in response to events. Events are external factors responsible for state change</a:t>
            </a:r>
          </a:p>
          <a:p>
            <a:endParaRPr lang="en-US" dirty="0" smtClean="0"/>
          </a:p>
          <a:p>
            <a:endParaRPr lang="en-US" dirty="0"/>
          </a:p>
        </p:txBody>
      </p:sp>
      <p:pic>
        <p:nvPicPr>
          <p:cNvPr id="6" name="Picture 2" descr="C:\Users\GANESH\Desktop\uml_state.jpg"/>
          <p:cNvPicPr>
            <a:picLocks noChangeAspect="1" noChangeArrowheads="1"/>
          </p:cNvPicPr>
          <p:nvPr/>
        </p:nvPicPr>
        <p:blipFill>
          <a:blip r:embed="rId2"/>
          <a:srcRect/>
          <a:stretch>
            <a:fillRect/>
          </a:stretch>
        </p:blipFill>
        <p:spPr bwMode="auto">
          <a:xfrm>
            <a:off x="3886200" y="4572000"/>
            <a:ext cx="1038225" cy="638175"/>
          </a:xfrm>
          <a:prstGeom prst="rect">
            <a:avLst/>
          </a:prstGeom>
          <a:noFill/>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457200" y="1600200"/>
            <a:ext cx="8229600" cy="4953000"/>
          </a:xfrm>
        </p:spPr>
        <p:txBody>
          <a:bodyPr/>
          <a:lstStyle/>
          <a:p>
            <a:r>
              <a:rPr lang="en-US" dirty="0" smtClean="0"/>
              <a:t>Grouping Things</a:t>
            </a:r>
          </a:p>
          <a:p>
            <a:r>
              <a:rPr lang="en-US" b="1" dirty="0" smtClean="0"/>
              <a:t>Grouping things</a:t>
            </a:r>
            <a:r>
              <a:rPr lang="en-US" dirty="0" smtClean="0"/>
              <a:t> can be defined as a mechanism to group elements of a UML model together. There is only one grouping thing available −</a:t>
            </a:r>
          </a:p>
          <a:p>
            <a:r>
              <a:rPr lang="en-US" b="1" dirty="0" smtClean="0"/>
              <a:t>Package −</a:t>
            </a:r>
            <a:r>
              <a:rPr lang="en-US" dirty="0" smtClean="0"/>
              <a:t> Package is the only one grouping thing available for gathering structural and behavioral things.</a:t>
            </a:r>
          </a:p>
          <a:p>
            <a:endParaRPr lang="en-US" dirty="0" smtClean="0"/>
          </a:p>
          <a:p>
            <a:endParaRPr lang="en-US" dirty="0"/>
          </a:p>
        </p:txBody>
      </p:sp>
      <p:pic>
        <p:nvPicPr>
          <p:cNvPr id="4" name="Picture 2" descr="C:\Users\GANESH\Desktop\uml_package.jpg"/>
          <p:cNvPicPr>
            <a:picLocks noChangeAspect="1" noChangeArrowheads="1"/>
          </p:cNvPicPr>
          <p:nvPr/>
        </p:nvPicPr>
        <p:blipFill>
          <a:blip r:embed="rId2"/>
          <a:srcRect/>
          <a:stretch>
            <a:fillRect/>
          </a:stretch>
        </p:blipFill>
        <p:spPr bwMode="auto">
          <a:xfrm>
            <a:off x="3886200" y="5715000"/>
            <a:ext cx="1028700" cy="714375"/>
          </a:xfrm>
          <a:prstGeom prst="rect">
            <a:avLst/>
          </a:prstGeom>
          <a:noFill/>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5" name="Content Placeholder 4"/>
          <p:cNvSpPr>
            <a:spLocks noGrp="1"/>
          </p:cNvSpPr>
          <p:nvPr>
            <p:ph idx="1"/>
          </p:nvPr>
        </p:nvSpPr>
        <p:spPr/>
        <p:txBody>
          <a:bodyPr>
            <a:normAutofit fontScale="92500" lnSpcReduction="20000"/>
          </a:bodyPr>
          <a:lstStyle/>
          <a:p>
            <a:r>
              <a:rPr lang="en-US" dirty="0" err="1" smtClean="0"/>
              <a:t>Annotational</a:t>
            </a:r>
            <a:r>
              <a:rPr lang="en-US" dirty="0" smtClean="0"/>
              <a:t> Things</a:t>
            </a:r>
          </a:p>
          <a:p>
            <a:r>
              <a:rPr lang="en-US" b="1" dirty="0" err="1" smtClean="0"/>
              <a:t>Annotational</a:t>
            </a:r>
            <a:r>
              <a:rPr lang="en-US" b="1" dirty="0" smtClean="0"/>
              <a:t> things</a:t>
            </a:r>
            <a:r>
              <a:rPr lang="en-US" dirty="0" smtClean="0"/>
              <a:t> can be defined as a mechanism to capture remarks, descriptions, and comments of UML model elements. </a:t>
            </a:r>
          </a:p>
          <a:p>
            <a:r>
              <a:rPr lang="en-US" b="1" dirty="0" smtClean="0"/>
              <a:t>Note</a:t>
            </a:r>
            <a:r>
              <a:rPr lang="en-US" dirty="0" smtClean="0"/>
              <a:t> - It is the only one </a:t>
            </a:r>
            <a:r>
              <a:rPr lang="en-US" dirty="0" err="1" smtClean="0"/>
              <a:t>Annotational</a:t>
            </a:r>
            <a:r>
              <a:rPr lang="en-US" dirty="0" smtClean="0"/>
              <a:t> thing available. A note is used to render comments, constraints, etc. of an UML element.</a:t>
            </a:r>
          </a:p>
          <a:p>
            <a:endParaRPr lang="en-US" dirty="0" smtClean="0"/>
          </a:p>
          <a:p>
            <a:pPr>
              <a:buNone/>
            </a:pPr>
            <a:r>
              <a:rPr lang="en-US" dirty="0" smtClean="0"/>
              <a:t/>
            </a:r>
            <a:br>
              <a:rPr lang="en-US" dirty="0" smtClean="0"/>
            </a:br>
            <a:endParaRPr lang="en-US" dirty="0"/>
          </a:p>
        </p:txBody>
      </p:sp>
      <p:pic>
        <p:nvPicPr>
          <p:cNvPr id="8" name="Picture 3" descr="C:\Users\GANESH\Desktop\uml_note.jpg"/>
          <p:cNvPicPr>
            <a:picLocks noChangeAspect="1" noChangeArrowheads="1"/>
          </p:cNvPicPr>
          <p:nvPr/>
        </p:nvPicPr>
        <p:blipFill>
          <a:blip r:embed="rId2"/>
          <a:srcRect/>
          <a:stretch>
            <a:fillRect/>
          </a:stretch>
        </p:blipFill>
        <p:spPr bwMode="auto">
          <a:xfrm>
            <a:off x="3733800" y="4953000"/>
            <a:ext cx="2133600" cy="485775"/>
          </a:xfrm>
          <a:prstGeom prst="rect">
            <a:avLst/>
          </a:prstGeom>
          <a:noFill/>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Relationship</a:t>
            </a:r>
            <a:br>
              <a:rPr lang="en-US" dirty="0" smtClean="0"/>
            </a:br>
            <a:endParaRPr lang="en-US" dirty="0"/>
          </a:p>
        </p:txBody>
      </p:sp>
      <p:sp>
        <p:nvSpPr>
          <p:cNvPr id="3" name="Content Placeholder 2"/>
          <p:cNvSpPr>
            <a:spLocks noGrp="1"/>
          </p:cNvSpPr>
          <p:nvPr>
            <p:ph idx="1"/>
          </p:nvPr>
        </p:nvSpPr>
        <p:spPr>
          <a:xfrm>
            <a:off x="457200" y="1600200"/>
            <a:ext cx="8229600" cy="4953000"/>
          </a:xfrm>
        </p:spPr>
        <p:txBody>
          <a:bodyPr>
            <a:normAutofit lnSpcReduction="10000"/>
          </a:bodyPr>
          <a:lstStyle/>
          <a:p>
            <a:r>
              <a:rPr lang="en-US" b="1" dirty="0" smtClean="0"/>
              <a:t>Relationship</a:t>
            </a:r>
            <a:r>
              <a:rPr lang="en-US" dirty="0" smtClean="0"/>
              <a:t> is another most important building block of UML. It shows how the elements are associated with each other and this association describes the functionality of an application.</a:t>
            </a:r>
          </a:p>
          <a:p>
            <a:r>
              <a:rPr lang="en-US" dirty="0" smtClean="0"/>
              <a:t>There are four kinds of relationships available.</a:t>
            </a:r>
          </a:p>
          <a:p>
            <a:r>
              <a:rPr lang="en-US" dirty="0" smtClean="0"/>
              <a:t>Dependency</a:t>
            </a:r>
          </a:p>
          <a:p>
            <a:r>
              <a:rPr lang="en-US" dirty="0" smtClean="0"/>
              <a:t>Dependency is a relationship between two things in which change in one element also affects the other.</a:t>
            </a:r>
          </a:p>
          <a:p>
            <a:endParaRPr lang="en-US" dirty="0" smtClean="0"/>
          </a:p>
          <a:p>
            <a:endParaRPr lang="en-US" dirty="0" smtClean="0"/>
          </a:p>
          <a:p>
            <a:endParaRPr lang="en-US" dirty="0"/>
          </a:p>
        </p:txBody>
      </p:sp>
      <p:pic>
        <p:nvPicPr>
          <p:cNvPr id="8" name="Picture 2" descr="C:\Users\GANESH\Desktop\uml_dependency.jpg"/>
          <p:cNvPicPr>
            <a:picLocks noChangeAspect="1" noChangeArrowheads="1"/>
          </p:cNvPicPr>
          <p:nvPr/>
        </p:nvPicPr>
        <p:blipFill>
          <a:blip r:embed="rId2"/>
          <a:srcRect/>
          <a:stretch>
            <a:fillRect/>
          </a:stretch>
        </p:blipFill>
        <p:spPr bwMode="auto">
          <a:xfrm>
            <a:off x="3962400" y="6096000"/>
            <a:ext cx="1905000" cy="561975"/>
          </a:xfrm>
          <a:prstGeom prst="rect">
            <a:avLst/>
          </a:prstGeom>
          <a:noFill/>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10000"/>
          </a:bodyPr>
          <a:lstStyle/>
          <a:p>
            <a:r>
              <a:rPr lang="en-US" dirty="0" smtClean="0"/>
              <a:t>Association</a:t>
            </a:r>
          </a:p>
          <a:p>
            <a:r>
              <a:rPr lang="en-US" dirty="0" smtClean="0"/>
              <a:t>Association is basically a set of links that connects the elements of a UML model. It also describes how many objects are taking part in that relationship.</a:t>
            </a:r>
          </a:p>
          <a:p>
            <a:r>
              <a:rPr lang="en-US" dirty="0" smtClean="0"/>
              <a:t>Generalization</a:t>
            </a:r>
          </a:p>
          <a:p>
            <a:r>
              <a:rPr lang="en-US" dirty="0" smtClean="0"/>
              <a:t>Generalization can be defined as a relationship which connects a specialized element with a generalized element. It basically describes the inheritance relationship in the world of objects.</a:t>
            </a:r>
          </a:p>
          <a:p>
            <a:endParaRPr lang="en-US" dirty="0" smtClean="0"/>
          </a:p>
          <a:p>
            <a:endParaRPr lang="en-US" dirty="0"/>
          </a:p>
        </p:txBody>
      </p:sp>
      <p:pic>
        <p:nvPicPr>
          <p:cNvPr id="6" name="Picture 2" descr="C:\Users\GANESH\Desktop\uml_association.jpg"/>
          <p:cNvPicPr>
            <a:picLocks noChangeAspect="1" noChangeArrowheads="1"/>
          </p:cNvPicPr>
          <p:nvPr/>
        </p:nvPicPr>
        <p:blipFill>
          <a:blip r:embed="rId2"/>
          <a:srcRect/>
          <a:stretch>
            <a:fillRect/>
          </a:stretch>
        </p:blipFill>
        <p:spPr bwMode="auto">
          <a:xfrm>
            <a:off x="3429000" y="3429000"/>
            <a:ext cx="1752600" cy="352425"/>
          </a:xfrm>
          <a:prstGeom prst="rect">
            <a:avLst/>
          </a:prstGeom>
          <a:noFill/>
        </p:spPr>
      </p:pic>
      <p:pic>
        <p:nvPicPr>
          <p:cNvPr id="9" name="Picture 3" descr="C:\Users\GANESH\Desktop\uml_generalization.jpg"/>
          <p:cNvPicPr>
            <a:picLocks noChangeAspect="1" noChangeArrowheads="1"/>
          </p:cNvPicPr>
          <p:nvPr/>
        </p:nvPicPr>
        <p:blipFill>
          <a:blip r:embed="rId3"/>
          <a:srcRect/>
          <a:stretch>
            <a:fillRect/>
          </a:stretch>
        </p:blipFill>
        <p:spPr bwMode="auto">
          <a:xfrm>
            <a:off x="3048000" y="6096000"/>
            <a:ext cx="1724025" cy="590550"/>
          </a:xfrm>
          <a:prstGeom prst="rect">
            <a:avLst/>
          </a:prstGeom>
          <a:noFill/>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lnSpcReduction="10000"/>
          </a:bodyPr>
          <a:lstStyle/>
          <a:p>
            <a:r>
              <a:rPr lang="en-US" dirty="0" smtClean="0"/>
              <a:t>Realization</a:t>
            </a:r>
          </a:p>
          <a:p>
            <a:r>
              <a:rPr lang="en-US" dirty="0" smtClean="0"/>
              <a:t>Realization can be defined as a relationship in which two elements are connected. One element describes some responsibility, which is not implemented and the other one implements them. This relationship exists in case of interfaces.</a:t>
            </a:r>
          </a:p>
          <a:p>
            <a:r>
              <a:rPr lang="en-US" dirty="0" smtClean="0"/>
              <a:t/>
            </a:r>
            <a:br>
              <a:rPr lang="en-US" dirty="0" smtClean="0"/>
            </a:br>
            <a:endParaRPr lang="en-US" dirty="0"/>
          </a:p>
        </p:txBody>
      </p:sp>
      <p:pic>
        <p:nvPicPr>
          <p:cNvPr id="6" name="Picture 2" descr="C:\Users\GANESH\Desktop\uml_realization.jpg"/>
          <p:cNvPicPr>
            <a:picLocks noChangeAspect="1" noChangeArrowheads="1"/>
          </p:cNvPicPr>
          <p:nvPr/>
        </p:nvPicPr>
        <p:blipFill>
          <a:blip r:embed="rId2"/>
          <a:srcRect/>
          <a:stretch>
            <a:fillRect/>
          </a:stretch>
        </p:blipFill>
        <p:spPr bwMode="auto">
          <a:xfrm>
            <a:off x="3505200" y="5334000"/>
            <a:ext cx="1314450" cy="342900"/>
          </a:xfrm>
          <a:prstGeom prst="rect">
            <a:avLst/>
          </a:prstGeom>
          <a:noFill/>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20000"/>
          </a:bodyPr>
          <a:lstStyle/>
          <a:p>
            <a:r>
              <a:rPr lang="en-US" dirty="0" smtClean="0"/>
              <a:t>UML Diagrams</a:t>
            </a:r>
          </a:p>
          <a:p>
            <a:r>
              <a:rPr lang="en-US" dirty="0" smtClean="0"/>
              <a:t>UML diagrams are the ultimate output of the entire discussion. All the elements, relationships are used to make a complete UML diagram and the diagram represents a system.</a:t>
            </a:r>
          </a:p>
          <a:p>
            <a:r>
              <a:rPr lang="en-US" dirty="0" smtClean="0"/>
              <a:t>The visual effect of the UML diagram is the most important part of the entire process. All the other elements are used to make it complete.</a:t>
            </a:r>
          </a:p>
          <a:p>
            <a:r>
              <a:rPr lang="en-US" dirty="0" smtClean="0"/>
              <a:t>UML includes the following nine diagrams, the details of which are described in the subsequent chapters.</a:t>
            </a:r>
          </a:p>
          <a:p>
            <a:endParaRPr lang="en-US"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20000"/>
          </a:bodyPr>
          <a:lstStyle/>
          <a:p>
            <a:r>
              <a:rPr lang="en-US" dirty="0" smtClean="0"/>
              <a:t>class diagram</a:t>
            </a:r>
          </a:p>
          <a:p>
            <a:r>
              <a:rPr lang="en-US" dirty="0" smtClean="0"/>
              <a:t>Object diagram</a:t>
            </a:r>
          </a:p>
          <a:p>
            <a:r>
              <a:rPr lang="en-US" dirty="0" smtClean="0"/>
              <a:t>Use case diagram</a:t>
            </a:r>
          </a:p>
          <a:p>
            <a:r>
              <a:rPr lang="en-US" dirty="0" smtClean="0"/>
              <a:t>Sequence diagram</a:t>
            </a:r>
          </a:p>
          <a:p>
            <a:r>
              <a:rPr lang="en-US" dirty="0" smtClean="0"/>
              <a:t>Collaboration diagram</a:t>
            </a:r>
          </a:p>
          <a:p>
            <a:r>
              <a:rPr lang="en-US" dirty="0" smtClean="0"/>
              <a:t>Activity diagram</a:t>
            </a:r>
          </a:p>
          <a:p>
            <a:r>
              <a:rPr lang="en-US" dirty="0" err="1" smtClean="0"/>
              <a:t>Statechart</a:t>
            </a:r>
            <a:r>
              <a:rPr lang="en-US" dirty="0" smtClean="0"/>
              <a:t> diagram</a:t>
            </a:r>
          </a:p>
          <a:p>
            <a:r>
              <a:rPr lang="en-US" dirty="0" smtClean="0"/>
              <a:t>Deployment diagram</a:t>
            </a:r>
          </a:p>
          <a:p>
            <a:r>
              <a:rPr lang="en-US" dirty="0" smtClean="0"/>
              <a:t>Component diagram</a:t>
            </a:r>
          </a:p>
          <a:p>
            <a:endParaRPr lang="en-US"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b="1" dirty="0" smtClean="0"/>
              <a:t>Interaction diagrams</a:t>
            </a:r>
            <a:r>
              <a:rPr lang="en-US" dirty="0" smtClean="0"/>
              <a:t> are used to represent how one or more objects in the system connect and communicate with each other. </a:t>
            </a:r>
            <a:r>
              <a:rPr lang="en-US" b="1" dirty="0" smtClean="0"/>
              <a:t>Interaction diagrams</a:t>
            </a:r>
            <a:r>
              <a:rPr lang="en-US" dirty="0" smtClean="0"/>
              <a:t> focus on the dynamic behavior of a system. An </a:t>
            </a:r>
            <a:r>
              <a:rPr lang="en-US" b="1" dirty="0" smtClean="0"/>
              <a:t>interaction diagram</a:t>
            </a:r>
            <a:r>
              <a:rPr lang="en-US" dirty="0" smtClean="0"/>
              <a:t> provides us the context of an </a:t>
            </a:r>
            <a:r>
              <a:rPr lang="en-US" b="1" dirty="0" smtClean="0"/>
              <a:t>interaction</a:t>
            </a:r>
            <a:r>
              <a:rPr lang="en-US" dirty="0" smtClean="0"/>
              <a:t> between one or more lifelines in the system.</a:t>
            </a:r>
            <a:endParaRPr lang="en-US"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Purpose of Interaction Diagrams</a:t>
            </a:r>
            <a:br>
              <a:rPr lang="en-US" dirty="0" smtClean="0"/>
            </a:br>
            <a:endParaRPr lang="en-US" dirty="0"/>
          </a:p>
        </p:txBody>
      </p:sp>
      <p:sp>
        <p:nvSpPr>
          <p:cNvPr id="3" name="Content Placeholder 2"/>
          <p:cNvSpPr>
            <a:spLocks noGrp="1"/>
          </p:cNvSpPr>
          <p:nvPr>
            <p:ph idx="1"/>
          </p:nvPr>
        </p:nvSpPr>
        <p:spPr/>
        <p:txBody>
          <a:bodyPr/>
          <a:lstStyle/>
          <a:p>
            <a:r>
              <a:rPr lang="en-US" dirty="0" smtClean="0"/>
              <a:t>The purpose of interaction diagrams is to visualize the interactive behavior of the system. Visualizing the interaction is a difficult task. Hence, the solution is to use different types of models to capture the different aspects of the interaction.</a:t>
            </a:r>
            <a:endParaRPr lang="en-US"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buNone/>
            </a:pPr>
            <a:r>
              <a:rPr lang="en-US" dirty="0" smtClean="0"/>
              <a:t>The purpose of interaction diagram is −</a:t>
            </a:r>
          </a:p>
          <a:p>
            <a:r>
              <a:rPr lang="en-US" dirty="0" smtClean="0"/>
              <a:t>To capture the dynamic </a:t>
            </a:r>
            <a:r>
              <a:rPr lang="en-US" dirty="0" err="1" smtClean="0"/>
              <a:t>behaviour</a:t>
            </a:r>
            <a:r>
              <a:rPr lang="en-US" dirty="0" smtClean="0"/>
              <a:t> of a system.</a:t>
            </a:r>
          </a:p>
          <a:p>
            <a:r>
              <a:rPr lang="en-US" dirty="0" smtClean="0"/>
              <a:t>To describe the message flow in the system.</a:t>
            </a:r>
          </a:p>
          <a:p>
            <a:r>
              <a:rPr lang="en-US" dirty="0" smtClean="0"/>
              <a:t>To describe the structural organization of the objects.</a:t>
            </a:r>
          </a:p>
          <a:p>
            <a:r>
              <a:rPr lang="en-US" dirty="0" smtClean="0"/>
              <a:t>To describe the interaction among objects.</a:t>
            </a:r>
          </a:p>
          <a:p>
            <a:endParaRPr lang="en-US"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buNone/>
            </a:pPr>
            <a:r>
              <a:rPr lang="en-US" dirty="0" smtClean="0"/>
              <a:t>Interaction diagrams can be used −</a:t>
            </a:r>
          </a:p>
          <a:p>
            <a:r>
              <a:rPr lang="en-US" dirty="0" smtClean="0"/>
              <a:t>To model the flow of control by time sequence.</a:t>
            </a:r>
          </a:p>
          <a:p>
            <a:r>
              <a:rPr lang="en-US" dirty="0" smtClean="0"/>
              <a:t>To model the flow of control by structural organizations.</a:t>
            </a:r>
          </a:p>
          <a:p>
            <a:r>
              <a:rPr lang="en-US" dirty="0" smtClean="0"/>
              <a:t>For forward engineering.</a:t>
            </a:r>
          </a:p>
          <a:p>
            <a:r>
              <a:rPr lang="en-US" dirty="0" smtClean="0"/>
              <a:t>For reverse engineering.</a:t>
            </a:r>
          </a:p>
          <a:p>
            <a:endParaRPr lang="en-US"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sequence diagram</a:t>
            </a:r>
            <a:endParaRPr lang="en-US" dirty="0"/>
          </a:p>
        </p:txBody>
      </p:sp>
      <p:sp>
        <p:nvSpPr>
          <p:cNvPr id="3" name="Content Placeholder 2"/>
          <p:cNvSpPr>
            <a:spLocks noGrp="1"/>
          </p:cNvSpPr>
          <p:nvPr>
            <p:ph idx="1"/>
          </p:nvPr>
        </p:nvSpPr>
        <p:spPr/>
        <p:txBody>
          <a:bodyPr/>
          <a:lstStyle/>
          <a:p>
            <a:r>
              <a:rPr lang="en-US" dirty="0" smtClean="0"/>
              <a:t>A </a:t>
            </a:r>
            <a:r>
              <a:rPr lang="en-US" b="1" dirty="0" smtClean="0"/>
              <a:t>sequence diagram</a:t>
            </a:r>
            <a:r>
              <a:rPr lang="en-US" dirty="0" smtClean="0"/>
              <a:t> simply depicts interaction between objects in a </a:t>
            </a:r>
            <a:r>
              <a:rPr lang="en-US" b="1" dirty="0" smtClean="0"/>
              <a:t>sequential</a:t>
            </a:r>
            <a:r>
              <a:rPr lang="en-US" dirty="0" smtClean="0"/>
              <a:t> order i.e. the order in which these interactions take place. We can also use the terms event </a:t>
            </a:r>
            <a:r>
              <a:rPr lang="en-US" b="1" dirty="0" smtClean="0"/>
              <a:t>diagrams</a:t>
            </a:r>
            <a:r>
              <a:rPr lang="en-US" dirty="0" smtClean="0"/>
              <a:t> or event scenarios to refer to a </a:t>
            </a:r>
            <a:r>
              <a:rPr lang="en-US" b="1" dirty="0" smtClean="0"/>
              <a:t>sequence diagram</a:t>
            </a:r>
            <a:r>
              <a:rPr lang="en-US" dirty="0" smtClean="0"/>
              <a:t>. </a:t>
            </a:r>
            <a:r>
              <a:rPr lang="en-US" b="1" dirty="0" smtClean="0"/>
              <a:t>Sequence diagrams</a:t>
            </a:r>
            <a:r>
              <a:rPr lang="en-US" dirty="0" smtClean="0"/>
              <a:t> describe how and in what order the objects in a system function.</a:t>
            </a:r>
            <a:endParaRPr lang="en-US"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Notations of a Sequence Diagram</a:t>
            </a:r>
            <a:br>
              <a:rPr lang="en-US" dirty="0" smtClean="0"/>
            </a:br>
            <a:endParaRPr lang="en-US" dirty="0"/>
          </a:p>
        </p:txBody>
      </p:sp>
      <p:pic>
        <p:nvPicPr>
          <p:cNvPr id="1027" name="Picture 3" descr="C:\Users\GANESH\Desktop\uml-sequence-diagram.png"/>
          <p:cNvPicPr>
            <a:picLocks noGrp="1" noChangeAspect="1" noChangeArrowheads="1"/>
          </p:cNvPicPr>
          <p:nvPr>
            <p:ph idx="1"/>
          </p:nvPr>
        </p:nvPicPr>
        <p:blipFill>
          <a:blip r:embed="rId2"/>
          <a:srcRect/>
          <a:stretch>
            <a:fillRect/>
          </a:stretch>
        </p:blipFill>
        <p:spPr bwMode="auto">
          <a:xfrm>
            <a:off x="1752600" y="2590800"/>
            <a:ext cx="1543265" cy="2438400"/>
          </a:xfrm>
          <a:prstGeom prst="rect">
            <a:avLst/>
          </a:prstGeom>
          <a:noFill/>
        </p:spPr>
      </p:pic>
      <p:sp>
        <p:nvSpPr>
          <p:cNvPr id="6" name="Rectangle 5"/>
          <p:cNvSpPr/>
          <p:nvPr/>
        </p:nvSpPr>
        <p:spPr>
          <a:xfrm>
            <a:off x="381000" y="1066800"/>
            <a:ext cx="8534400" cy="1477328"/>
          </a:xfrm>
          <a:prstGeom prst="rect">
            <a:avLst/>
          </a:prstGeom>
        </p:spPr>
        <p:txBody>
          <a:bodyPr wrap="square">
            <a:spAutoFit/>
          </a:bodyPr>
          <a:lstStyle/>
          <a:p>
            <a:r>
              <a:rPr lang="en-US" dirty="0" smtClean="0"/>
              <a:t>Lifeline</a:t>
            </a:r>
          </a:p>
          <a:p>
            <a:r>
              <a:rPr lang="en-US" dirty="0" smtClean="0"/>
              <a:t>An individual participant in the sequence diagram is represented by a lifeline. It is positioned at the top of the diagram.</a:t>
            </a:r>
          </a:p>
          <a:p>
            <a:r>
              <a:rPr lang="en-US" dirty="0" smtClean="0"/>
              <a:t/>
            </a:r>
            <a:br>
              <a:rPr lang="en-US" dirty="0" smtClean="0"/>
            </a:br>
            <a:endParaRPr lang="en-US"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lnSpcReduction="10000"/>
          </a:bodyPr>
          <a:lstStyle/>
          <a:p>
            <a:r>
              <a:rPr lang="en-US" dirty="0" smtClean="0"/>
              <a:t>Actor</a:t>
            </a:r>
          </a:p>
          <a:p>
            <a:r>
              <a:rPr lang="en-US" dirty="0" smtClean="0"/>
              <a:t>A role played by an entity that interacts with the subject is called as an actor. It is out of the scope of the system. It represents the role, which involves human users and external hardware or subjects. An actor may or may not represent a physical entity, but it purely depicts the role of an entity. Several distinct roles can be played by an actor or vice versa.</a:t>
            </a:r>
          </a:p>
          <a:p>
            <a:endParaRPr lang="en-US"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2050" name="Picture 2" descr="C:\Users\GANESH\Desktop\uml-sequence-diagram2.png"/>
          <p:cNvPicPr>
            <a:picLocks noGrp="1" noChangeAspect="1" noChangeArrowheads="1"/>
          </p:cNvPicPr>
          <p:nvPr>
            <p:ph idx="1"/>
          </p:nvPr>
        </p:nvPicPr>
        <p:blipFill>
          <a:blip r:embed="rId2"/>
          <a:srcRect/>
          <a:stretch>
            <a:fillRect/>
          </a:stretch>
        </p:blipFill>
        <p:spPr bwMode="auto">
          <a:xfrm>
            <a:off x="4229052" y="1853126"/>
            <a:ext cx="685896" cy="4020111"/>
          </a:xfrm>
          <a:prstGeom prst="rect">
            <a:avLst/>
          </a:prstGeom>
          <a:noFill/>
        </p:spPr>
      </p:pic>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Activation</a:t>
            </a:r>
          </a:p>
          <a:p>
            <a:r>
              <a:rPr lang="en-US" dirty="0" smtClean="0"/>
              <a:t>It is represented by a thin rectangle on the lifeline. It describes that time period in which an operation is performed by an element, such that the top and the bottom of the rectangle is associated with the initiation and the completion time, each respectively.</a:t>
            </a:r>
          </a:p>
          <a:p>
            <a:endParaRPr lang="en-US"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098" name="Picture 2" descr="C:\Users\GANESH\Desktop\uml-sequence-diagram3.png"/>
          <p:cNvPicPr>
            <a:picLocks noGrp="1" noChangeAspect="1" noChangeArrowheads="1"/>
          </p:cNvPicPr>
          <p:nvPr>
            <p:ph idx="1"/>
          </p:nvPr>
        </p:nvPicPr>
        <p:blipFill>
          <a:blip r:embed="rId2"/>
          <a:srcRect/>
          <a:stretch>
            <a:fillRect/>
          </a:stretch>
        </p:blipFill>
        <p:spPr bwMode="auto">
          <a:xfrm>
            <a:off x="3800367" y="2515207"/>
            <a:ext cx="1543265" cy="1751994"/>
          </a:xfrm>
          <a:prstGeom prst="rect">
            <a:avLst/>
          </a:prstGeom>
          <a:noFill/>
        </p:spPr>
      </p:pic>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Messages</a:t>
            </a:r>
          </a:p>
          <a:p>
            <a:r>
              <a:rPr lang="en-US" dirty="0" smtClean="0"/>
              <a:t>The messages depict the interaction between the objects and are represented by arrows. They are in the sequential order on the lifeline. The core of the sequence diagram is formed by messages and lifelines.</a:t>
            </a:r>
          </a:p>
          <a:p>
            <a:r>
              <a:rPr lang="en-US" dirty="0" smtClean="0"/>
              <a:t>Following are types of messages enlisted below:</a:t>
            </a:r>
          </a:p>
          <a:p>
            <a:endParaRPr lang="en-US"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b="1" dirty="0" smtClean="0"/>
              <a:t>Call Message:</a:t>
            </a:r>
            <a:r>
              <a:rPr lang="en-US" dirty="0" smtClean="0"/>
              <a:t> It defines a particular communication between the lifelines of an interaction, which represents that the target lifeline has invoked an operation.</a:t>
            </a:r>
            <a:endParaRPr lang="en-US"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6146" name="Picture 2" descr="C:\Users\GANESH\Desktop\uml-sequence-diagram4.png"/>
          <p:cNvPicPr>
            <a:picLocks noGrp="1" noChangeAspect="1" noChangeArrowheads="1"/>
          </p:cNvPicPr>
          <p:nvPr>
            <p:ph idx="1"/>
          </p:nvPr>
        </p:nvPicPr>
        <p:blipFill>
          <a:blip r:embed="rId2"/>
          <a:srcRect/>
          <a:stretch>
            <a:fillRect/>
          </a:stretch>
        </p:blipFill>
        <p:spPr bwMode="auto">
          <a:xfrm>
            <a:off x="3290708" y="2896259"/>
            <a:ext cx="2562583" cy="1933845"/>
          </a:xfrm>
          <a:prstGeom prst="rect">
            <a:avLst/>
          </a:prstGeom>
          <a:noFill/>
        </p:spPr>
      </p:pic>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b="1" dirty="0" smtClean="0"/>
              <a:t>Return Message:</a:t>
            </a:r>
            <a:r>
              <a:rPr lang="en-US" dirty="0" smtClean="0"/>
              <a:t> It defines a particular communication between the lifelines of interaction that represent the flow of information from the receiver of the corresponding caller message.</a:t>
            </a:r>
            <a:endParaRPr lang="en-US"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7170" name="Picture 2" descr="C:\Users\GANESH\Desktop\uml-sequence-diagram5.png"/>
          <p:cNvPicPr>
            <a:picLocks noGrp="1" noChangeAspect="1" noChangeArrowheads="1"/>
          </p:cNvPicPr>
          <p:nvPr>
            <p:ph idx="1"/>
          </p:nvPr>
        </p:nvPicPr>
        <p:blipFill>
          <a:blip r:embed="rId2"/>
          <a:srcRect/>
          <a:stretch>
            <a:fillRect/>
          </a:stretch>
        </p:blipFill>
        <p:spPr bwMode="auto">
          <a:xfrm>
            <a:off x="3324050" y="2896259"/>
            <a:ext cx="2495899" cy="1933845"/>
          </a:xfrm>
          <a:prstGeom prst="rect">
            <a:avLst/>
          </a:prstGeom>
          <a:noFill/>
        </p:spPr>
      </p:pic>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b="1" dirty="0" smtClean="0"/>
              <a:t>Self Message:</a:t>
            </a:r>
            <a:r>
              <a:rPr lang="en-US" dirty="0" smtClean="0"/>
              <a:t> It describes a communication, particularly between the lifelines of an interaction that represents a message of the same lifeline, has been invoked.</a:t>
            </a:r>
            <a:endParaRPr lang="en-US"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8194" name="Picture 2" descr="C:\Users\GANESH\Desktop\uml-sequence-diagram6.png"/>
          <p:cNvPicPr>
            <a:picLocks noGrp="1" noChangeAspect="1" noChangeArrowheads="1"/>
          </p:cNvPicPr>
          <p:nvPr>
            <p:ph idx="1"/>
          </p:nvPr>
        </p:nvPicPr>
        <p:blipFill>
          <a:blip r:embed="rId2"/>
          <a:srcRect/>
          <a:stretch>
            <a:fillRect/>
          </a:stretch>
        </p:blipFill>
        <p:spPr bwMode="auto">
          <a:xfrm>
            <a:off x="4286210" y="3429000"/>
            <a:ext cx="571580" cy="1401104"/>
          </a:xfrm>
          <a:prstGeom prst="rect">
            <a:avLst/>
          </a:prstGeom>
          <a:noFill/>
        </p:spPr>
      </p:pic>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sz="2800" b="1" dirty="0" smtClean="0"/>
              <a:t>Recursive Message:</a:t>
            </a:r>
            <a:r>
              <a:rPr lang="en-US" sz="2800" dirty="0" smtClean="0"/>
              <a:t> A self message sent for recursive purpose is called a recursive message. In other words, it can be said that the recursive message is a special case of the self message as it represents the recursive calls.</a:t>
            </a:r>
          </a:p>
          <a:p>
            <a:endParaRPr lang="en-US" sz="2800" dirty="0"/>
          </a:p>
        </p:txBody>
      </p:sp>
      <p:pic>
        <p:nvPicPr>
          <p:cNvPr id="5" name="Picture 2" descr="C:\Users\GANESH\Desktop\uml-sequence-diagram7.png"/>
          <p:cNvPicPr>
            <a:picLocks noChangeAspect="1" noChangeArrowheads="1"/>
          </p:cNvPicPr>
          <p:nvPr/>
        </p:nvPicPr>
        <p:blipFill>
          <a:blip r:embed="rId2"/>
          <a:srcRect/>
          <a:stretch>
            <a:fillRect/>
          </a:stretch>
        </p:blipFill>
        <p:spPr bwMode="auto">
          <a:xfrm>
            <a:off x="3657600" y="3886200"/>
            <a:ext cx="1828800" cy="1933845"/>
          </a:xfrm>
          <a:prstGeom prst="rect">
            <a:avLst/>
          </a:prstGeom>
          <a:noFill/>
        </p:spPr>
      </p:pic>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b="1" dirty="0" smtClean="0"/>
              <a:t>Create Message:</a:t>
            </a:r>
            <a:r>
              <a:rPr lang="en-US" dirty="0" smtClean="0"/>
              <a:t> It describes a communication, particularly between the lifelines of an interaction describing that the target (lifeline) has been instantiated.</a:t>
            </a:r>
            <a:br>
              <a:rPr lang="en-US" dirty="0" smtClean="0"/>
            </a:br>
            <a:endParaRPr lang="en-US"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10242" name="Picture 2" descr="C:\Users\GANESH\Desktop\uml-sequence-diagram8.png"/>
          <p:cNvPicPr>
            <a:picLocks noGrp="1" noChangeAspect="1" noChangeArrowheads="1"/>
          </p:cNvPicPr>
          <p:nvPr>
            <p:ph idx="1"/>
          </p:nvPr>
        </p:nvPicPr>
        <p:blipFill>
          <a:blip r:embed="rId2"/>
          <a:srcRect/>
          <a:stretch>
            <a:fillRect/>
          </a:stretch>
        </p:blipFill>
        <p:spPr bwMode="auto">
          <a:xfrm>
            <a:off x="3048000" y="1600200"/>
            <a:ext cx="2886478" cy="2314898"/>
          </a:xfrm>
          <a:prstGeom prst="rect">
            <a:avLst/>
          </a:prstGeom>
          <a:noFill/>
        </p:spPr>
      </p:pic>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b="1" dirty="0" smtClean="0"/>
              <a:t>Destroy Message:</a:t>
            </a:r>
            <a:r>
              <a:rPr lang="en-US" dirty="0" smtClean="0"/>
              <a:t> It describes a communication, particularly between the lifelines of an interaction that depicts a request to destroy the lifecycle of the target.</a:t>
            </a:r>
            <a:endParaRPr lang="en-US"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11266" name="Picture 2" descr="C:\Users\GANESH\Desktop\uml-sequence-diagram9.png"/>
          <p:cNvPicPr>
            <a:picLocks noGrp="1" noChangeAspect="1" noChangeArrowheads="1"/>
          </p:cNvPicPr>
          <p:nvPr>
            <p:ph idx="1"/>
          </p:nvPr>
        </p:nvPicPr>
        <p:blipFill>
          <a:blip r:embed="rId2"/>
          <a:srcRect/>
          <a:stretch>
            <a:fillRect/>
          </a:stretch>
        </p:blipFill>
        <p:spPr bwMode="auto">
          <a:xfrm>
            <a:off x="3271656" y="2896259"/>
            <a:ext cx="2600688" cy="1933845"/>
          </a:xfrm>
          <a:prstGeom prst="rect">
            <a:avLst/>
          </a:prstGeom>
          <a:noFill/>
        </p:spPr>
      </p:pic>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b="1" dirty="0" smtClean="0"/>
              <a:t>Duration Message:</a:t>
            </a:r>
            <a:r>
              <a:rPr lang="en-US" dirty="0" smtClean="0"/>
              <a:t> It describes a communication particularly between the lifelines of an interaction, which portrays the time passage of the message while modeling a system.</a:t>
            </a:r>
            <a:endParaRPr lang="en-US"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12290" name="Picture 2" descr="C:\Users\GANESH\Desktop\uml-sequence-diagram10.png"/>
          <p:cNvPicPr>
            <a:picLocks noGrp="1" noChangeAspect="1" noChangeArrowheads="1"/>
          </p:cNvPicPr>
          <p:nvPr>
            <p:ph idx="1"/>
          </p:nvPr>
        </p:nvPicPr>
        <p:blipFill>
          <a:blip r:embed="rId2"/>
          <a:srcRect/>
          <a:stretch>
            <a:fillRect/>
          </a:stretch>
        </p:blipFill>
        <p:spPr bwMode="auto">
          <a:xfrm>
            <a:off x="2133601" y="1981201"/>
            <a:ext cx="3691112" cy="2848904"/>
          </a:xfrm>
          <a:prstGeom prst="rect">
            <a:avLst/>
          </a:prstGeom>
          <a:noFill/>
        </p:spPr>
      </p:pic>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Atm</a:t>
            </a:r>
            <a:r>
              <a:rPr lang="en-US" dirty="0" smtClean="0"/>
              <a:t> example</a:t>
            </a:r>
            <a:endParaRPr lang="en-US" dirty="0"/>
          </a:p>
        </p:txBody>
      </p:sp>
      <p:pic>
        <p:nvPicPr>
          <p:cNvPr id="13314" name="Picture 2" descr="C:\Users\GANESH\Desktop\pict--bank-atm-uml-sequence-diagram-atm-sequence-diagram.png"/>
          <p:cNvPicPr>
            <a:picLocks noGrp="1" noChangeAspect="1" noChangeArrowheads="1"/>
          </p:cNvPicPr>
          <p:nvPr>
            <p:ph idx="1"/>
          </p:nvPr>
        </p:nvPicPr>
        <p:blipFill>
          <a:blip r:embed="rId2"/>
          <a:srcRect/>
          <a:stretch>
            <a:fillRect/>
          </a:stretch>
        </p:blipFill>
        <p:spPr bwMode="auto">
          <a:xfrm>
            <a:off x="2133388" y="1919913"/>
            <a:ext cx="4877223" cy="3886537"/>
          </a:xfrm>
          <a:prstGeom prst="rect">
            <a:avLst/>
          </a:prstGeom>
          <a:noFill/>
        </p:spPr>
      </p:pic>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1026" name="Picture 2" descr="C:\Users\SMEC\Desktop\uml_sequence_diagram.jpg"/>
          <p:cNvPicPr>
            <a:picLocks noGrp="1" noChangeAspect="1" noChangeArrowheads="1"/>
          </p:cNvPicPr>
          <p:nvPr>
            <p:ph idx="1"/>
          </p:nvPr>
        </p:nvPicPr>
        <p:blipFill>
          <a:blip r:embed="rId2"/>
          <a:srcRect/>
          <a:stretch>
            <a:fillRect/>
          </a:stretch>
        </p:blipFill>
        <p:spPr bwMode="auto">
          <a:xfrm>
            <a:off x="457200" y="248202"/>
            <a:ext cx="8382000" cy="5329480"/>
          </a:xfrm>
          <a:prstGeom prst="rect">
            <a:avLst/>
          </a:prstGeom>
          <a:noFill/>
        </p:spPr>
      </p:pic>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Benefits of a Sequence Diagram</a:t>
            </a:r>
            <a:br>
              <a:rPr lang="en-US" dirty="0" smtClean="0"/>
            </a:b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t>It explores the real-time application.</a:t>
            </a:r>
          </a:p>
          <a:p>
            <a:r>
              <a:rPr lang="en-US" dirty="0" smtClean="0"/>
              <a:t>It depicts the message flow between the different objects.</a:t>
            </a:r>
          </a:p>
          <a:p>
            <a:r>
              <a:rPr lang="en-US" dirty="0" smtClean="0"/>
              <a:t>It has easy maintenance.</a:t>
            </a:r>
          </a:p>
          <a:p>
            <a:r>
              <a:rPr lang="en-US" dirty="0" smtClean="0"/>
              <a:t>It is easy to generate.</a:t>
            </a:r>
          </a:p>
          <a:p>
            <a:r>
              <a:rPr lang="en-US" dirty="0" smtClean="0"/>
              <a:t>Implement both forward and reverse engineering.</a:t>
            </a:r>
          </a:p>
          <a:p>
            <a:r>
              <a:rPr lang="en-US" dirty="0" smtClean="0"/>
              <a:t>It can easily update as per the new change in the system.</a:t>
            </a:r>
          </a:p>
          <a:p>
            <a:endParaRPr lang="en-US"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Collaboration Diagram</a:t>
            </a:r>
            <a:br>
              <a:rPr lang="en-US" dirty="0" smtClean="0"/>
            </a:br>
            <a:endParaRPr lang="en-US" dirty="0"/>
          </a:p>
        </p:txBody>
      </p:sp>
      <p:sp>
        <p:nvSpPr>
          <p:cNvPr id="3" name="Content Placeholder 2"/>
          <p:cNvSpPr>
            <a:spLocks noGrp="1"/>
          </p:cNvSpPr>
          <p:nvPr>
            <p:ph idx="1"/>
          </p:nvPr>
        </p:nvSpPr>
        <p:spPr/>
        <p:txBody>
          <a:bodyPr/>
          <a:lstStyle/>
          <a:p>
            <a:r>
              <a:rPr lang="en-US" dirty="0" smtClean="0"/>
              <a:t>The collaboration diagram is used to show the relationship between the objects in a system. Both the sequence and the collaboration diagrams represent the same information but differently. Instead of showing the flow of messages, it depicts the architecture of the object residing in the system as it is based on object-oriented programming.</a:t>
            </a:r>
            <a:endParaRPr lang="en-US"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Notations of a Collaboration Diagram</a:t>
            </a:r>
            <a:br>
              <a:rPr lang="en-US" dirty="0" smtClean="0"/>
            </a:br>
            <a:endParaRPr lang="en-US" dirty="0"/>
          </a:p>
        </p:txBody>
      </p:sp>
      <p:sp>
        <p:nvSpPr>
          <p:cNvPr id="3" name="Content Placeholder 2"/>
          <p:cNvSpPr>
            <a:spLocks noGrp="1"/>
          </p:cNvSpPr>
          <p:nvPr>
            <p:ph idx="1"/>
          </p:nvPr>
        </p:nvSpPr>
        <p:spPr/>
        <p:txBody>
          <a:bodyPr>
            <a:normAutofit fontScale="85000" lnSpcReduction="20000"/>
          </a:bodyPr>
          <a:lstStyle/>
          <a:p>
            <a:r>
              <a:rPr lang="en-US" b="1" dirty="0" smtClean="0"/>
              <a:t>Objects:</a:t>
            </a:r>
            <a:r>
              <a:rPr lang="en-US" dirty="0" smtClean="0"/>
              <a:t> The representation of an object is done by an object symbol with its name and class underlined, separated by a colon.</a:t>
            </a:r>
            <a:br>
              <a:rPr lang="en-US" dirty="0" smtClean="0"/>
            </a:br>
            <a:r>
              <a:rPr lang="en-US" dirty="0" smtClean="0"/>
              <a:t>In the collaboration diagram, objects are utilized in the following </a:t>
            </a:r>
            <a:r>
              <a:rPr lang="en-US" dirty="0" err="1" smtClean="0"/>
              <a:t>ways:The</a:t>
            </a:r>
            <a:r>
              <a:rPr lang="en-US" dirty="0" smtClean="0"/>
              <a:t> object is represented by specifying their name and class.</a:t>
            </a:r>
          </a:p>
          <a:p>
            <a:r>
              <a:rPr lang="en-US" dirty="0" smtClean="0"/>
              <a:t>It is not mandatory for every class to appear.</a:t>
            </a:r>
          </a:p>
          <a:p>
            <a:r>
              <a:rPr lang="en-US" dirty="0" smtClean="0"/>
              <a:t>A class may constitute more than one object.</a:t>
            </a:r>
          </a:p>
          <a:p>
            <a:r>
              <a:rPr lang="en-US" dirty="0" smtClean="0"/>
              <a:t>In the collaboration diagram, firstly, the object is created, and then its class is specified.</a:t>
            </a:r>
          </a:p>
          <a:p>
            <a:r>
              <a:rPr lang="en-US" dirty="0" smtClean="0"/>
              <a:t>To differentiate one object from another object, it is necessary to name them.</a:t>
            </a:r>
          </a:p>
          <a:p>
            <a:endParaRPr lang="en-US"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lnSpcReduction="10000"/>
          </a:bodyPr>
          <a:lstStyle/>
          <a:p>
            <a:r>
              <a:rPr lang="en-US" sz="2600" b="1" dirty="0" smtClean="0"/>
              <a:t>Actors:</a:t>
            </a:r>
            <a:r>
              <a:rPr lang="en-US" sz="2600" dirty="0" smtClean="0"/>
              <a:t> In the collaboration diagram, the actor plays the main role as it invokes the interaction. Each actor has its respective role and name. In this, one actor initiates the use case.</a:t>
            </a:r>
          </a:p>
          <a:p>
            <a:r>
              <a:rPr lang="en-US" sz="2600" b="1" dirty="0" smtClean="0"/>
              <a:t>Links:</a:t>
            </a:r>
            <a:r>
              <a:rPr lang="en-US" sz="2600" dirty="0" smtClean="0"/>
              <a:t> The link is an instance of association, which associates the objects and actors. It portrays a relationship between the objects through which the messages are sent. It is represented by a solid line. The link helps an object to connect with or navigate to another object, such that the message flows are attached to links.</a:t>
            </a:r>
          </a:p>
          <a:p>
            <a:endParaRPr lang="en-US"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b="1" dirty="0" smtClean="0"/>
              <a:t>Messages:</a:t>
            </a:r>
            <a:r>
              <a:rPr lang="en-US" dirty="0" smtClean="0"/>
              <a:t> </a:t>
            </a:r>
            <a:r>
              <a:rPr lang="en-US" sz="2400" dirty="0" smtClean="0"/>
              <a:t>It is a communication between objects which carries information and includes a sequence number, so that the activity may take place. </a:t>
            </a:r>
          </a:p>
          <a:p>
            <a:r>
              <a:rPr lang="en-US" sz="2400" dirty="0" smtClean="0"/>
              <a:t>It is represented by a labeled arrow, which is placed near a link. The messages are sent from the sender to the receiver, and the direction must be navigable in that particular direction. The receiver must understand the message.</a:t>
            </a:r>
          </a:p>
          <a:p>
            <a:endParaRPr lang="en-US"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mtClean="0"/>
              <a:t>Example of a Collaboration Diagram</a:t>
            </a:r>
            <a:br>
              <a:rPr lang="en-US" smtClean="0"/>
            </a:br>
            <a:endParaRPr lang="en-US"/>
          </a:p>
        </p:txBody>
      </p:sp>
      <p:pic>
        <p:nvPicPr>
          <p:cNvPr id="14338" name="Picture 2" descr="C:\Users\GANESH\Desktop\uml-collaboration-diagram2.png"/>
          <p:cNvPicPr>
            <a:picLocks noGrp="1" noChangeAspect="1" noChangeArrowheads="1"/>
          </p:cNvPicPr>
          <p:nvPr>
            <p:ph idx="1"/>
          </p:nvPr>
        </p:nvPicPr>
        <p:blipFill>
          <a:blip r:embed="rId2"/>
          <a:srcRect/>
          <a:stretch>
            <a:fillRect/>
          </a:stretch>
        </p:blipFill>
        <p:spPr bwMode="auto">
          <a:xfrm>
            <a:off x="1952259" y="2115100"/>
            <a:ext cx="5239482" cy="3496163"/>
          </a:xfrm>
          <a:prstGeom prst="rect">
            <a:avLst/>
          </a:prstGeom>
          <a:noFill/>
        </p:spPr>
      </p:pic>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C:\Users\SMEC\Desktop\uml_collaboration_diagram.jpg"/>
          <p:cNvPicPr>
            <a:picLocks noChangeAspect="1" noChangeArrowheads="1"/>
          </p:cNvPicPr>
          <p:nvPr/>
        </p:nvPicPr>
        <p:blipFill>
          <a:blip r:embed="rId2"/>
          <a:srcRect/>
          <a:stretch>
            <a:fillRect/>
          </a:stretch>
        </p:blipFill>
        <p:spPr bwMode="auto">
          <a:xfrm>
            <a:off x="914400" y="762000"/>
            <a:ext cx="7543800" cy="4953000"/>
          </a:xfrm>
          <a:prstGeom prst="rect">
            <a:avLst/>
          </a:prstGeom>
          <a:noFill/>
        </p:spPr>
      </p:pic>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Benefits of a Collaboration Diagram</a:t>
            </a:r>
            <a:br>
              <a:rPr lang="en-US" dirty="0" smtClean="0"/>
            </a:br>
            <a:endParaRPr lang="en-US" dirty="0"/>
          </a:p>
        </p:txBody>
      </p:sp>
      <p:sp>
        <p:nvSpPr>
          <p:cNvPr id="3" name="Content Placeholder 2"/>
          <p:cNvSpPr>
            <a:spLocks noGrp="1"/>
          </p:cNvSpPr>
          <p:nvPr>
            <p:ph idx="1"/>
          </p:nvPr>
        </p:nvSpPr>
        <p:spPr/>
        <p:txBody>
          <a:bodyPr>
            <a:normAutofit/>
          </a:bodyPr>
          <a:lstStyle/>
          <a:p>
            <a:r>
              <a:rPr lang="en-US" sz="2400" dirty="0" smtClean="0"/>
              <a:t>The collaboration diagram is also known as Communication Diagram.</a:t>
            </a:r>
          </a:p>
          <a:p>
            <a:r>
              <a:rPr lang="en-US" sz="2400" dirty="0" smtClean="0"/>
              <a:t>The syntax of a collaboration diagram is similar to the sequence diagram; just the difference is that the lifeline does not consist of tails</a:t>
            </a:r>
            <a:r>
              <a:rPr lang="en-US" dirty="0" smtClean="0"/>
              <a:t>.</a:t>
            </a:r>
          </a:p>
          <a:p>
            <a:r>
              <a:rPr lang="en-US" sz="2400" dirty="0" smtClean="0"/>
              <a:t>The messages transmitted over sequencing is represented by numbering each individual message</a:t>
            </a:r>
            <a:r>
              <a:rPr lang="en-US" dirty="0" smtClean="0"/>
              <a:t>.</a:t>
            </a:r>
          </a:p>
          <a:p>
            <a:r>
              <a:rPr lang="en-US" sz="2400" dirty="0" smtClean="0"/>
              <a:t>Since the collaboration diagrams are not that expensive, the sequence diagram can be directly converted to the collaboration diagram</a:t>
            </a:r>
            <a:r>
              <a:rPr lang="en-US" dirty="0" smtClean="0"/>
              <a:t>.</a:t>
            </a:r>
          </a:p>
          <a:p>
            <a:endParaRPr lang="en-US" dirty="0" smtClean="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component diagram</a:t>
            </a:r>
            <a:endParaRPr lang="en-US" dirty="0"/>
          </a:p>
        </p:txBody>
      </p:sp>
      <p:sp>
        <p:nvSpPr>
          <p:cNvPr id="3" name="Content Placeholder 2"/>
          <p:cNvSpPr>
            <a:spLocks noGrp="1"/>
          </p:cNvSpPr>
          <p:nvPr>
            <p:ph idx="1"/>
          </p:nvPr>
        </p:nvSpPr>
        <p:spPr/>
        <p:txBody>
          <a:bodyPr>
            <a:normAutofit fontScale="92500" lnSpcReduction="10000"/>
          </a:bodyPr>
          <a:lstStyle/>
          <a:p>
            <a:r>
              <a:rPr lang="en-US" sz="2400" dirty="0" smtClean="0"/>
              <a:t>A component diagram is used to break down a large object-oriented system into the smaller components, so as to make them more manageable. </a:t>
            </a:r>
          </a:p>
          <a:p>
            <a:r>
              <a:rPr lang="en-US" sz="2400" dirty="0" smtClean="0"/>
              <a:t>It models the physical view of a system such as executables, files, libraries, etc. that resides within the node. It visualizes the relationships as well as the organization between the components present in the system. </a:t>
            </a:r>
          </a:p>
          <a:p>
            <a:r>
              <a:rPr lang="en-US" sz="2400" dirty="0" smtClean="0"/>
              <a:t>It helps in forming an executable system. A component is a single unit of the system, which is replaceable and executable. The implementation details of a component are hidden, and it necessitates an interface to execute a function. </a:t>
            </a:r>
          </a:p>
          <a:p>
            <a:r>
              <a:rPr lang="en-US" sz="2400" dirty="0" smtClean="0"/>
              <a:t>It is like a black box whose behavior is explained by the provided and required interfaces.</a:t>
            </a:r>
            <a:endParaRPr lang="en-US" sz="2400" dirty="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buNone/>
            </a:pPr>
            <a:r>
              <a:rPr lang="en-US" dirty="0" smtClean="0"/>
              <a:t>Notation of a Component Diagram</a:t>
            </a:r>
          </a:p>
          <a:p>
            <a:r>
              <a:rPr lang="en-US" dirty="0" smtClean="0"/>
              <a:t>a) A component</a:t>
            </a:r>
          </a:p>
          <a:p>
            <a:endParaRPr lang="en-US" dirty="0" smtClean="0"/>
          </a:p>
          <a:p>
            <a:endParaRPr lang="en-US" dirty="0" smtClean="0"/>
          </a:p>
          <a:p>
            <a:endParaRPr lang="en-US" dirty="0" smtClean="0"/>
          </a:p>
          <a:p>
            <a:r>
              <a:rPr lang="en-US" dirty="0" smtClean="0"/>
              <a:t>b) A node    </a:t>
            </a:r>
          </a:p>
          <a:p>
            <a:endParaRPr lang="en-US" dirty="0" smtClean="0"/>
          </a:p>
          <a:p>
            <a:endParaRPr lang="en-US" dirty="0" smtClean="0"/>
          </a:p>
          <a:p>
            <a:endParaRPr lang="en-US" dirty="0"/>
          </a:p>
        </p:txBody>
      </p:sp>
      <p:pic>
        <p:nvPicPr>
          <p:cNvPr id="5" name="Picture 2" descr="C:\Users\SMEC_2\Desktop\uml-component-diagram.png"/>
          <p:cNvPicPr>
            <a:picLocks noChangeAspect="1" noChangeArrowheads="1"/>
          </p:cNvPicPr>
          <p:nvPr/>
        </p:nvPicPr>
        <p:blipFill>
          <a:blip r:embed="rId2"/>
          <a:srcRect/>
          <a:stretch>
            <a:fillRect/>
          </a:stretch>
        </p:blipFill>
        <p:spPr bwMode="auto">
          <a:xfrm>
            <a:off x="4419600" y="2286000"/>
            <a:ext cx="2133600" cy="923925"/>
          </a:xfrm>
          <a:prstGeom prst="rect">
            <a:avLst/>
          </a:prstGeom>
          <a:noFill/>
        </p:spPr>
      </p:pic>
      <p:pic>
        <p:nvPicPr>
          <p:cNvPr id="6" name="Picture 4" descr="C:\Users\SMEC_2\Desktop\uml-component-diagram2.png"/>
          <p:cNvPicPr>
            <a:picLocks noChangeAspect="1" noChangeArrowheads="1"/>
          </p:cNvPicPr>
          <p:nvPr/>
        </p:nvPicPr>
        <p:blipFill>
          <a:blip r:embed="rId3"/>
          <a:srcRect/>
          <a:stretch>
            <a:fillRect/>
          </a:stretch>
        </p:blipFill>
        <p:spPr bwMode="auto">
          <a:xfrm>
            <a:off x="3124200" y="4419600"/>
            <a:ext cx="2286000" cy="1171575"/>
          </a:xfrm>
          <a:prstGeom prst="rect">
            <a:avLst/>
          </a:prstGeom>
          <a:noFill/>
        </p:spPr>
      </p:pic>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sz="2800" dirty="0" smtClean="0"/>
              <a:t>Interfaces in component diagrams show how components are wired together and interact with each other. </a:t>
            </a:r>
          </a:p>
          <a:p>
            <a:r>
              <a:rPr lang="en-US" sz="2800" dirty="0" smtClean="0"/>
              <a:t>The assembly connector allows linking the component’s required interface (represented with a semi-circle and a solid line) with the provided interface (represented with a circle and solid line) of another component.</a:t>
            </a:r>
            <a:endParaRPr lang="en-US" sz="2800" dirty="0"/>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Picture 2" descr="C:\Users\SMEC_2\Desktop\Assembly-Connector.png"/>
          <p:cNvPicPr>
            <a:picLocks noGrp="1" noChangeAspect="1" noChangeArrowheads="1"/>
          </p:cNvPicPr>
          <p:nvPr>
            <p:ph idx="1"/>
          </p:nvPr>
        </p:nvPicPr>
        <p:blipFill>
          <a:blip r:embed="rId2"/>
          <a:srcRect/>
          <a:stretch>
            <a:fillRect/>
          </a:stretch>
        </p:blipFill>
        <p:spPr bwMode="auto">
          <a:xfrm>
            <a:off x="723362" y="3039154"/>
            <a:ext cx="7697275" cy="1648055"/>
          </a:xfrm>
          <a:prstGeom prst="rect">
            <a:avLst/>
          </a:prstGeom>
          <a:noFill/>
        </p:spPr>
      </p:pic>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Purpose of a Component Diagram</a:t>
            </a:r>
            <a:br>
              <a:rPr lang="en-US" dirty="0" smtClean="0"/>
            </a:br>
            <a:endParaRPr lang="en-US" dirty="0"/>
          </a:p>
        </p:txBody>
      </p:sp>
      <p:sp>
        <p:nvSpPr>
          <p:cNvPr id="6" name="Content Placeholder 5"/>
          <p:cNvSpPr>
            <a:spLocks noGrp="1"/>
          </p:cNvSpPr>
          <p:nvPr>
            <p:ph idx="1"/>
          </p:nvPr>
        </p:nvSpPr>
        <p:spPr/>
        <p:txBody>
          <a:bodyPr>
            <a:normAutofit/>
          </a:bodyPr>
          <a:lstStyle/>
          <a:p>
            <a:r>
              <a:rPr lang="en-US" sz="2400" dirty="0" smtClean="0"/>
              <a:t>Since it is a special kind of a UML diagram, it holds distinct purposes. </a:t>
            </a:r>
          </a:p>
          <a:p>
            <a:r>
              <a:rPr lang="en-US" sz="2400" dirty="0" smtClean="0"/>
              <a:t>It describes all the individual components that are used to make the functionalities, but not the functionalities of the system. </a:t>
            </a:r>
          </a:p>
          <a:p>
            <a:r>
              <a:rPr lang="en-US" sz="2400" dirty="0" smtClean="0"/>
              <a:t>It visualizes the physical components inside the system. The components can be a library, packages, files, etc.</a:t>
            </a:r>
          </a:p>
          <a:p>
            <a:r>
              <a:rPr lang="en-US" sz="2400" dirty="0" smtClean="0"/>
              <a:t>The component diagram also describes the static view of a system, which includes the organization of components at a particular instant. The collection of component diagrams represents a whole system.</a:t>
            </a:r>
            <a:endParaRPr lang="en-US" sz="2400" dirty="0"/>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3600" dirty="0" smtClean="0"/>
              <a:t>The main purpose of the component diagram are enlisted below</a:t>
            </a:r>
            <a:r>
              <a:rPr lang="en-US" dirty="0" smtClean="0"/>
              <a:t>:</a:t>
            </a:r>
            <a:endParaRPr lang="en-US" dirty="0"/>
          </a:p>
        </p:txBody>
      </p:sp>
      <p:sp>
        <p:nvSpPr>
          <p:cNvPr id="3" name="Content Placeholder 2"/>
          <p:cNvSpPr>
            <a:spLocks noGrp="1"/>
          </p:cNvSpPr>
          <p:nvPr>
            <p:ph idx="1"/>
          </p:nvPr>
        </p:nvSpPr>
        <p:spPr/>
        <p:txBody>
          <a:bodyPr/>
          <a:lstStyle/>
          <a:p>
            <a:r>
              <a:rPr lang="en-US" sz="2400" dirty="0" smtClean="0"/>
              <a:t>It envisions each component of a system.</a:t>
            </a:r>
          </a:p>
          <a:p>
            <a:r>
              <a:rPr lang="en-US" sz="2400" dirty="0" smtClean="0"/>
              <a:t>It constructs the executable by incorporating forward and reverse engineering.</a:t>
            </a:r>
          </a:p>
          <a:p>
            <a:r>
              <a:rPr lang="en-US" sz="2400" dirty="0" smtClean="0"/>
              <a:t>It depicts the relationships and organization of components</a:t>
            </a:r>
            <a:r>
              <a:rPr lang="en-US" dirty="0" smtClean="0"/>
              <a:t>.</a:t>
            </a:r>
          </a:p>
          <a:p>
            <a:endParaRPr lang="en-US" dirty="0"/>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smtClean="0"/>
              <a:t>When to use a Component Diagram?</a:t>
            </a:r>
            <a:br>
              <a:rPr lang="en-US" sz="2800" dirty="0" smtClean="0"/>
            </a:br>
            <a:endParaRPr lang="en-US" sz="2800" dirty="0"/>
          </a:p>
        </p:txBody>
      </p:sp>
      <p:sp>
        <p:nvSpPr>
          <p:cNvPr id="3" name="Content Placeholder 2"/>
          <p:cNvSpPr>
            <a:spLocks noGrp="1"/>
          </p:cNvSpPr>
          <p:nvPr>
            <p:ph idx="1"/>
          </p:nvPr>
        </p:nvSpPr>
        <p:spPr/>
        <p:txBody>
          <a:bodyPr>
            <a:normAutofit/>
          </a:bodyPr>
          <a:lstStyle/>
          <a:p>
            <a:r>
              <a:rPr lang="en-US" sz="2400" dirty="0" smtClean="0"/>
              <a:t>It represents various physical components of a system at runtime. It is helpful in visualizing the structure and the organization of a system.</a:t>
            </a:r>
          </a:p>
          <a:p>
            <a:r>
              <a:rPr lang="en-US" sz="2400" dirty="0" smtClean="0"/>
              <a:t> It describes how individual components can together form a single system. Following are some reasons, which tells when to use component diagram:</a:t>
            </a:r>
          </a:p>
          <a:p>
            <a:r>
              <a:rPr lang="en-US" sz="2400" dirty="0" smtClean="0"/>
              <a:t>To divide a single system into multiple components according to the functionality.</a:t>
            </a:r>
          </a:p>
          <a:p>
            <a:r>
              <a:rPr lang="en-US" sz="2400" dirty="0" smtClean="0"/>
              <a:t>To represent the component organization of the system.</a:t>
            </a:r>
          </a:p>
          <a:p>
            <a:endParaRPr lang="en-US" sz="2400" dirty="0"/>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2800" dirty="0" smtClean="0"/>
              <a:t>Example of a Component Diagram</a:t>
            </a:r>
            <a:br>
              <a:rPr lang="en-US" sz="2800" dirty="0" smtClean="0"/>
            </a:br>
            <a:r>
              <a:rPr lang="en-US" sz="2400" dirty="0" smtClean="0"/>
              <a:t>A component diagram for an online shopping system</a:t>
            </a:r>
            <a:r>
              <a:rPr lang="en-US" sz="2800" dirty="0" smtClean="0"/>
              <a:t/>
            </a:r>
            <a:br>
              <a:rPr lang="en-US" sz="2800" dirty="0" smtClean="0"/>
            </a:br>
            <a:endParaRPr lang="en-US" sz="2800" dirty="0"/>
          </a:p>
        </p:txBody>
      </p:sp>
      <p:pic>
        <p:nvPicPr>
          <p:cNvPr id="3074" name="Picture 2" descr="C:\Users\SMEC_2\Desktop\uml-component-diagram3.png"/>
          <p:cNvPicPr>
            <a:picLocks noGrp="1" noChangeAspect="1" noChangeArrowheads="1"/>
          </p:cNvPicPr>
          <p:nvPr>
            <p:ph idx="1"/>
          </p:nvPr>
        </p:nvPicPr>
        <p:blipFill>
          <a:blip r:embed="rId2"/>
          <a:srcRect/>
          <a:stretch>
            <a:fillRect/>
          </a:stretch>
        </p:blipFill>
        <p:spPr bwMode="auto">
          <a:xfrm>
            <a:off x="1295400" y="2133600"/>
            <a:ext cx="6248400" cy="3910806"/>
          </a:xfrm>
          <a:prstGeom prst="rect">
            <a:avLst/>
          </a:prstGeom>
          <a:noFill/>
        </p:spPr>
      </p:pic>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5" name="Content Placeholder 4"/>
          <p:cNvSpPr>
            <a:spLocks noGrp="1"/>
          </p:cNvSpPr>
          <p:nvPr>
            <p:ph idx="1"/>
          </p:nvPr>
        </p:nvSpPr>
        <p:spPr/>
        <p:txBody>
          <a:bodyPr/>
          <a:lstStyle/>
          <a:p>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858</TotalTime>
  <Words>3915</Words>
  <Application>Microsoft Office PowerPoint</Application>
  <PresentationFormat>On-screen Show (4:3)</PresentationFormat>
  <Paragraphs>357</Paragraphs>
  <Slides>113</Slides>
  <Notes>0</Notes>
  <HiddenSlides>0</HiddenSlides>
  <MMClips>0</MMClips>
  <ScaleCrop>false</ScaleCrop>
  <HeadingPairs>
    <vt:vector size="4" baseType="variant">
      <vt:variant>
        <vt:lpstr>Theme</vt:lpstr>
      </vt:variant>
      <vt:variant>
        <vt:i4>1</vt:i4>
      </vt:variant>
      <vt:variant>
        <vt:lpstr>Slide Titles</vt:lpstr>
      </vt:variant>
      <vt:variant>
        <vt:i4>113</vt:i4>
      </vt:variant>
    </vt:vector>
  </HeadingPairs>
  <TitlesOfParts>
    <vt:vector size="114" baseType="lpstr">
      <vt:lpstr>Office Theme</vt:lpstr>
      <vt:lpstr>Design Engineering</vt:lpstr>
      <vt:lpstr>Design Engineering</vt:lpstr>
      <vt:lpstr>Slide 3</vt:lpstr>
      <vt:lpstr>Slide 4</vt:lpstr>
      <vt:lpstr>Slide 5</vt:lpstr>
      <vt:lpstr>Design Process And Design Quality: </vt:lpstr>
      <vt:lpstr>Slide 7</vt:lpstr>
      <vt:lpstr>Quality guidelines: </vt:lpstr>
      <vt:lpstr>Slide 9</vt:lpstr>
      <vt:lpstr>Slide 10</vt:lpstr>
      <vt:lpstr>Quality attributes </vt:lpstr>
      <vt:lpstr>Slide 12</vt:lpstr>
      <vt:lpstr>DESIGN CONCEPTS </vt:lpstr>
      <vt:lpstr>Slide 14</vt:lpstr>
      <vt:lpstr>Slide 15</vt:lpstr>
      <vt:lpstr>Slide 16</vt:lpstr>
      <vt:lpstr>Slide 17</vt:lpstr>
      <vt:lpstr>Slide 18</vt:lpstr>
      <vt:lpstr>Slide 19</vt:lpstr>
      <vt:lpstr>Slide 20</vt:lpstr>
      <vt:lpstr>Slide 21</vt:lpstr>
      <vt:lpstr>Design model </vt:lpstr>
      <vt:lpstr>The design model</vt:lpstr>
      <vt:lpstr>Slide 24</vt:lpstr>
      <vt:lpstr>Slide 25</vt:lpstr>
      <vt:lpstr>Following are the types of design elements:</vt:lpstr>
      <vt:lpstr>Data design elements: </vt:lpstr>
      <vt:lpstr>Slide 28</vt:lpstr>
      <vt:lpstr>Architectural design elements: </vt:lpstr>
      <vt:lpstr>Slide 30</vt:lpstr>
      <vt:lpstr>Interface design elements </vt:lpstr>
      <vt:lpstr>Slide 32</vt:lpstr>
      <vt:lpstr>Slide 33</vt:lpstr>
      <vt:lpstr>Slide 34</vt:lpstr>
      <vt:lpstr>Slide 35</vt:lpstr>
      <vt:lpstr>Component- level design elements </vt:lpstr>
      <vt:lpstr>The UML diagram is used to represent the processing logic</vt:lpstr>
      <vt:lpstr>Deployment level design elements</vt:lpstr>
      <vt:lpstr>Slide 39</vt:lpstr>
      <vt:lpstr>Creating an architecture</vt:lpstr>
      <vt:lpstr>Slide 41</vt:lpstr>
      <vt:lpstr>Slide 42</vt:lpstr>
      <vt:lpstr>Slide 43</vt:lpstr>
      <vt:lpstr>Why is Architecture Important? </vt:lpstr>
      <vt:lpstr>Data Design: </vt:lpstr>
      <vt:lpstr>Slide 46</vt:lpstr>
      <vt:lpstr>Data design at the Architectural Level: </vt:lpstr>
      <vt:lpstr>Slide 48</vt:lpstr>
      <vt:lpstr>Data design at the Component Level: </vt:lpstr>
      <vt:lpstr>Slide 50</vt:lpstr>
      <vt:lpstr>Architectural styles and patterns: </vt:lpstr>
      <vt:lpstr>Slide 52</vt:lpstr>
      <vt:lpstr>Slide 53</vt:lpstr>
      <vt:lpstr>Conceptual model of uml</vt:lpstr>
      <vt:lpstr>why a conceptual model is required?</vt:lpstr>
      <vt:lpstr>Slide 56</vt:lpstr>
      <vt:lpstr>Slide 57</vt:lpstr>
      <vt:lpstr>Slide 58</vt:lpstr>
      <vt:lpstr>Slide 59</vt:lpstr>
      <vt:lpstr>Slide 60</vt:lpstr>
      <vt:lpstr>Slide 61</vt:lpstr>
      <vt:lpstr>Slide 62</vt:lpstr>
      <vt:lpstr>Slide 63</vt:lpstr>
      <vt:lpstr>Slide 64</vt:lpstr>
      <vt:lpstr>Slide 65</vt:lpstr>
      <vt:lpstr>Relationship </vt:lpstr>
      <vt:lpstr>Slide 67</vt:lpstr>
      <vt:lpstr>Slide 68</vt:lpstr>
      <vt:lpstr>Slide 69</vt:lpstr>
      <vt:lpstr>Slide 70</vt:lpstr>
      <vt:lpstr>Slide 71</vt:lpstr>
      <vt:lpstr>Purpose of Interaction Diagrams </vt:lpstr>
      <vt:lpstr>Slide 73</vt:lpstr>
      <vt:lpstr>Slide 74</vt:lpstr>
      <vt:lpstr>sequence diagram</vt:lpstr>
      <vt:lpstr>Notations of a Sequence Diagram </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Atm example</vt:lpstr>
      <vt:lpstr>Slide 96</vt:lpstr>
      <vt:lpstr>Benefits of a Sequence Diagram </vt:lpstr>
      <vt:lpstr>Collaboration Diagram </vt:lpstr>
      <vt:lpstr>Notations of a Collaboration Diagram </vt:lpstr>
      <vt:lpstr>Slide 100</vt:lpstr>
      <vt:lpstr>Slide 101</vt:lpstr>
      <vt:lpstr>Example of a Collaboration Diagram </vt:lpstr>
      <vt:lpstr>Slide 103</vt:lpstr>
      <vt:lpstr>Benefits of a Collaboration Diagram </vt:lpstr>
      <vt:lpstr>component diagram</vt:lpstr>
      <vt:lpstr>Slide 106</vt:lpstr>
      <vt:lpstr>Slide 107</vt:lpstr>
      <vt:lpstr>Slide 108</vt:lpstr>
      <vt:lpstr>Purpose of a Component Diagram </vt:lpstr>
      <vt:lpstr>The main purpose of the component diagram are enlisted below:</vt:lpstr>
      <vt:lpstr>When to use a Component Diagram? </vt:lpstr>
      <vt:lpstr>Example of a Component Diagram A component diagram for an online shopping system </vt:lpstr>
      <vt:lpstr>Slide 113</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Design Engineering</dc:title>
  <dc:creator>GANESH</dc:creator>
  <cp:lastModifiedBy>SMEC_2</cp:lastModifiedBy>
  <cp:revision>74</cp:revision>
  <dcterms:created xsi:type="dcterms:W3CDTF">2006-08-16T00:00:00Z</dcterms:created>
  <dcterms:modified xsi:type="dcterms:W3CDTF">2020-12-17T05:58:26Z</dcterms:modified>
</cp:coreProperties>
</file>